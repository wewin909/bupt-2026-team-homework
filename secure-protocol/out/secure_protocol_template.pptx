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95" r:id="rId3"/>
    <p:sldId id="262" r:id="rId4"/>
    <p:sldId id="27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7" r:id="rId18"/>
    <p:sldId id="276" r:id="rId19"/>
    <p:sldId id="278" r:id="rId20"/>
    <p:sldId id="279" r:id="rId21"/>
    <p:sldId id="280" r:id="rId22"/>
    <p:sldId id="281" r:id="rId23"/>
    <p:sldId id="282" r:id="rId24"/>
    <p:sldId id="284" r:id="rId25"/>
    <p:sldId id="285" r:id="rId26"/>
    <p:sldId id="289" r:id="rId27"/>
    <p:sldId id="290" r:id="rId28"/>
    <p:sldId id="291" r:id="rId29"/>
    <p:sldId id="292" r:id="rId30"/>
    <p:sldId id="293" r:id="rId31"/>
    <p:sldId id="283" r:id="rId32"/>
    <p:sldId id="286" r:id="rId33"/>
    <p:sldId id="287" r:id="rId34"/>
    <p:sldId id="288" r:id="rId35"/>
    <p:sldId id="294" r:id="rId36"/>
    <p:sldId id="26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1" d="100"/>
          <a:sy n="101" d="100"/>
        </p:scale>
        <p:origin x="136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3905A-098B-457E-88CE-A58EABB2DC5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11556-E622-4756-9032-31537B389A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11556-E622-4756-9032-31537B389A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18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11556-E622-4756-9032-31537B389A1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24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36353" y="2765600"/>
            <a:ext cx="582723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1B4F72"/>
                </a:solidFill>
              </a:rPr>
              <a:t>TLS 1.2 / TLS 1.3 / QUIC
</a:t>
            </a:r>
            <a:r>
              <a:rPr sz="4000" b="1" dirty="0" err="1">
                <a:solidFill>
                  <a:srgbClr val="1B4F72"/>
                </a:solidFill>
              </a:rPr>
              <a:t>握手与会话恢复抓包分析</a:t>
            </a:r>
            <a:endParaRPr sz="4000" b="1" dirty="0">
              <a:solidFill>
                <a:srgbClr val="1B4F7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A65130-7BE7-A950-79B4-59CF0C705374}"/>
              </a:ext>
            </a:extLst>
          </p:cNvPr>
          <p:cNvSpPr txBox="1"/>
          <p:nvPr/>
        </p:nvSpPr>
        <p:spPr>
          <a:xfrm>
            <a:off x="0" y="25225"/>
            <a:ext cx="9143999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建立连接的命令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TLS 1.2:</a:t>
            </a:r>
          </a:p>
          <a:p>
            <a:r>
              <a:rPr lang="zh-CN" altLang="en-US" dirty="0"/>
              <a:t>建立连接：</a:t>
            </a:r>
            <a:r>
              <a:rPr lang="zh-CN" altLang="zh-CN" dirty="0"/>
              <a:t>openssl s_client -connect tls-v1-2.badssl.com:1012 -servername tls-v1-2.badssl.com</a:t>
            </a:r>
            <a:r>
              <a:rPr lang="en-US" altLang="zh-CN" dirty="0"/>
              <a:t> </a:t>
            </a:r>
            <a:r>
              <a:rPr lang="zh-CN" altLang="zh-CN" dirty="0"/>
              <a:t>-tls1_2 -sess_out tls12_sess.pem </a:t>
            </a:r>
            <a:r>
              <a:rPr lang="en-US" altLang="zh-CN" dirty="0"/>
              <a:t>–</a:t>
            </a:r>
            <a:r>
              <a:rPr lang="zh-CN" altLang="zh-CN" dirty="0"/>
              <a:t>msg</a:t>
            </a:r>
            <a:endParaRPr lang="en-US" altLang="zh-CN" dirty="0"/>
          </a:p>
          <a:p>
            <a:r>
              <a:rPr lang="zh-CN" altLang="en-US" dirty="0"/>
              <a:t>会话恢复：</a:t>
            </a:r>
            <a:r>
              <a:rPr lang="zh-CN" altLang="zh-CN" dirty="0"/>
              <a:t>openssl s_client -connect tls-v1-2.badssl.com:1012 -servername tls-v1-2.badssl.com</a:t>
            </a:r>
            <a:r>
              <a:rPr lang="en-US" altLang="zh-CN" dirty="0"/>
              <a:t> </a:t>
            </a:r>
            <a:r>
              <a:rPr lang="zh-CN" altLang="zh-CN" dirty="0"/>
              <a:t>-tls1_2 -sess_in tls12_sess.pem </a:t>
            </a:r>
            <a:r>
              <a:rPr lang="en-US" altLang="zh-CN" dirty="0"/>
              <a:t>–</a:t>
            </a:r>
            <a:r>
              <a:rPr lang="zh-CN" altLang="zh-CN" dirty="0"/>
              <a:t>msg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TLS 1.3:</a:t>
            </a:r>
          </a:p>
          <a:p>
            <a:r>
              <a:rPr lang="zh-CN" altLang="en-US" dirty="0"/>
              <a:t>建立连接：</a:t>
            </a:r>
            <a:r>
              <a:rPr lang="zh-CN" altLang="zh-CN" dirty="0"/>
              <a:t>openssl s_client -connect www.cloudflare.com:443 -servername www.cloudflare.com </a:t>
            </a:r>
            <a:r>
              <a:rPr lang="en-US" altLang="zh-CN" dirty="0"/>
              <a:t> </a:t>
            </a:r>
            <a:r>
              <a:rPr lang="zh-CN" altLang="zh-CN" dirty="0"/>
              <a:t>-tls1_3 -sess_out tls13_sess.pem </a:t>
            </a:r>
            <a:r>
              <a:rPr lang="en-US" altLang="zh-CN" dirty="0"/>
              <a:t>–</a:t>
            </a:r>
            <a:r>
              <a:rPr lang="zh-CN" altLang="zh-CN" dirty="0"/>
              <a:t>msg</a:t>
            </a:r>
            <a:endParaRPr lang="en-US" altLang="zh-CN" dirty="0"/>
          </a:p>
          <a:p>
            <a:r>
              <a:rPr lang="zh-CN" altLang="en-US" dirty="0"/>
              <a:t>会话恢复：</a:t>
            </a:r>
            <a:r>
              <a:rPr lang="zh-CN" altLang="zh-CN" dirty="0"/>
              <a:t>openssl s_client -connect www.cloudflare.com:443 -servername www.cloudflare.com </a:t>
            </a:r>
            <a:r>
              <a:rPr lang="en-US" altLang="zh-CN" dirty="0"/>
              <a:t> </a:t>
            </a:r>
            <a:r>
              <a:rPr lang="zh-CN" altLang="zh-CN" dirty="0"/>
              <a:t>-tls1_3 -sess_in tls13_sess.pem </a:t>
            </a:r>
            <a:r>
              <a:rPr lang="en-US" altLang="zh-CN" dirty="0"/>
              <a:t>–</a:t>
            </a:r>
            <a:r>
              <a:rPr lang="zh-CN" altLang="zh-CN" dirty="0"/>
              <a:t>msg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QUIC</a:t>
            </a:r>
            <a:r>
              <a:rPr lang="zh-CN" altLang="en-US" dirty="0">
                <a:sym typeface="Wingdings" panose="05000000000000000000" pitchFamily="2" charset="2"/>
              </a:rPr>
              <a:t>：（借助了</a:t>
            </a:r>
            <a:r>
              <a:rPr lang="en-US" altLang="zh-CN" dirty="0" err="1">
                <a:sym typeface="Wingdings" panose="05000000000000000000" pitchFamily="2" charset="2"/>
              </a:rPr>
              <a:t>aioquic</a:t>
            </a:r>
            <a:r>
              <a:rPr lang="zh-CN" altLang="en-US" dirty="0">
                <a:sym typeface="Wingdings" panose="05000000000000000000" pitchFamily="2" charset="2"/>
              </a:rPr>
              <a:t>库）</a:t>
            </a:r>
            <a:endParaRPr lang="en-US" altLang="zh-CN" dirty="0"/>
          </a:p>
          <a:p>
            <a:r>
              <a:rPr lang="zh-CN" altLang="en-US" dirty="0"/>
              <a:t>清除已有票据文件：</a:t>
            </a:r>
            <a:r>
              <a:rPr lang="zh-CN" altLang="zh-CN" dirty="0"/>
              <a:t>Remove-Item .\quic.ticket -ErrorAction SilentlyContinue</a:t>
            </a:r>
          </a:p>
          <a:p>
            <a:r>
              <a:rPr lang="zh-CN" altLang="en-US" dirty="0"/>
              <a:t>建立连接：</a:t>
            </a:r>
            <a:r>
              <a:rPr lang="zh-CN" altLang="zh-CN" dirty="0"/>
              <a:t>python .\examples\http3_client.py -v -l quic_new.keys -s quic.ticket https://cloudflare-quic.com/</a:t>
            </a:r>
          </a:p>
          <a:p>
            <a:r>
              <a:rPr lang="zh-CN" altLang="en-US" dirty="0"/>
              <a:t>会话恢复：</a:t>
            </a:r>
            <a:r>
              <a:rPr lang="zh-CN" altLang="zh-CN" dirty="0"/>
              <a:t>python .\examples\http3_client.py -v -l quic_resume.keys -s quic.ticket https://cloudflare-quic.com/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346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F4726A-2CD9-7835-FAC4-5B798C7FBF5F}"/>
              </a:ext>
            </a:extLst>
          </p:cNvPr>
          <p:cNvSpPr/>
          <p:nvPr/>
        </p:nvSpPr>
        <p:spPr>
          <a:xfrm>
            <a:off x="502920" y="1078992"/>
            <a:ext cx="813816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19CC2A-E872-7A46-6B87-534AB268B372}"/>
              </a:ext>
            </a:extLst>
          </p:cNvPr>
          <p:cNvSpPr txBox="1"/>
          <p:nvPr/>
        </p:nvSpPr>
        <p:spPr>
          <a:xfrm>
            <a:off x="502920" y="376443"/>
            <a:ext cx="813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1B4F72"/>
                </a:solidFill>
              </a:rPr>
              <a:t>TLS 1.2</a:t>
            </a:r>
            <a:endParaRPr lang="zh-CN" altLang="en-US" sz="3200" b="1" dirty="0">
              <a:solidFill>
                <a:srgbClr val="1B4F72"/>
              </a:solidFill>
            </a:endParaRPr>
          </a:p>
        </p:txBody>
      </p:sp>
      <p:pic>
        <p:nvPicPr>
          <p:cNvPr id="9" name="Picture 9" descr="TLS1-2.png">
            <a:extLst>
              <a:ext uri="{FF2B5EF4-FFF2-40B4-BE49-F238E27FC236}">
                <a16:creationId xmlns:a16="http://schemas.microsoft.com/office/drawing/2014/main" id="{CEB320EB-5F93-D80E-34D7-AF640E618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1123"/>
            <a:ext cx="8459476" cy="363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5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7916394-A196-F004-E1F8-F991A6BB2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622" y="0"/>
            <a:ext cx="5190565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17DFCD4-70F2-0DD5-DB9F-A9437F187F6C}"/>
              </a:ext>
            </a:extLst>
          </p:cNvPr>
          <p:cNvSpPr txBox="1"/>
          <p:nvPr/>
        </p:nvSpPr>
        <p:spPr>
          <a:xfrm>
            <a:off x="497393" y="2386420"/>
            <a:ext cx="2877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1B4F72"/>
                </a:solidFill>
              </a:rPr>
              <a:t>新会话建立</a:t>
            </a:r>
          </a:p>
        </p:txBody>
      </p:sp>
    </p:spTree>
    <p:extLst>
      <p:ext uri="{BB962C8B-B14F-4D97-AF65-F5344CB8AC3E}">
        <p14:creationId xmlns:p14="http://schemas.microsoft.com/office/powerpoint/2010/main" val="429193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0497F7-0C2A-2EEE-4535-80F9DB4C3782}"/>
              </a:ext>
            </a:extLst>
          </p:cNvPr>
          <p:cNvSpPr txBox="1"/>
          <p:nvPr/>
        </p:nvSpPr>
        <p:spPr>
          <a:xfrm>
            <a:off x="0" y="0"/>
            <a:ext cx="6947479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Client Hello:</a:t>
            </a:r>
          </a:p>
          <a:p>
            <a:r>
              <a:rPr lang="zh-CN" altLang="zh-CN" sz="1400" dirty="0"/>
              <a:t>Transport Layer Security</a:t>
            </a:r>
          </a:p>
          <a:p>
            <a:r>
              <a:rPr lang="zh-CN" altLang="zh-CN" sz="1400" dirty="0"/>
              <a:t>    [Stream index: 56]</a:t>
            </a:r>
          </a:p>
          <a:p>
            <a:r>
              <a:rPr lang="zh-CN" altLang="zh-CN" sz="1400" dirty="0"/>
              <a:t>    TLSv1.2 Record Layer: Handshake Protocol: Client Hello</a:t>
            </a:r>
          </a:p>
          <a:p>
            <a:r>
              <a:rPr lang="zh-CN" altLang="zh-CN" sz="1400" dirty="0"/>
              <a:t>        Content Type: Handshake (22)</a:t>
            </a:r>
          </a:p>
          <a:p>
            <a:r>
              <a:rPr lang="zh-CN" altLang="zh-CN" sz="1400" dirty="0"/>
              <a:t>        Version: TLS 1.0 (0x0301)</a:t>
            </a:r>
            <a:r>
              <a:rPr lang="en-US" altLang="zh-CN" sz="1400" dirty="0"/>
              <a:t>      </a:t>
            </a:r>
            <a:r>
              <a:rPr lang="zh-CN" altLang="en-US" sz="1200" dirty="0">
                <a:solidFill>
                  <a:srgbClr val="0070C0"/>
                </a:solidFill>
              </a:rPr>
              <a:t>规避这些设备因不识新版本而直接丢弃数据包的兼容性问题</a:t>
            </a:r>
            <a:r>
              <a:rPr lang="zh-CN" altLang="zh-CN" sz="1600" dirty="0">
                <a:solidFill>
                  <a:srgbClr val="0070C0"/>
                </a:solidFill>
              </a:rPr>
              <a:t> </a:t>
            </a:r>
            <a:endParaRPr lang="en-US" altLang="zh-CN" sz="1400" dirty="0">
              <a:solidFill>
                <a:srgbClr val="0070C0"/>
              </a:solidFill>
            </a:endParaRPr>
          </a:p>
          <a:p>
            <a:r>
              <a:rPr lang="en-US" altLang="zh-CN" sz="1400" dirty="0"/>
              <a:t>       </a:t>
            </a:r>
            <a:r>
              <a:rPr lang="zh-CN" altLang="zh-CN" sz="1400" dirty="0"/>
              <a:t> Length: 217</a:t>
            </a:r>
          </a:p>
          <a:p>
            <a:r>
              <a:rPr lang="zh-CN" altLang="zh-CN" sz="1400" dirty="0"/>
              <a:t>        Handshake Protocol: Client Hello</a:t>
            </a:r>
          </a:p>
          <a:p>
            <a:r>
              <a:rPr lang="zh-CN" altLang="zh-CN" sz="1400" dirty="0"/>
              <a:t>            Handshake Type: Client Hello (1)</a:t>
            </a:r>
            <a:r>
              <a:rPr lang="en-US" altLang="zh-CN" sz="1400" dirty="0"/>
              <a:t>  </a:t>
            </a:r>
            <a:endParaRPr lang="zh-CN" altLang="zh-CN" sz="1400" dirty="0"/>
          </a:p>
          <a:p>
            <a:r>
              <a:rPr lang="zh-CN" altLang="zh-CN" sz="1400" dirty="0"/>
              <a:t>            Length: 213</a:t>
            </a:r>
          </a:p>
          <a:p>
            <a:r>
              <a:rPr lang="zh-CN" altLang="zh-CN" sz="1400" dirty="0"/>
              <a:t>            Version: TLS 1.2 (0x0303)</a:t>
            </a:r>
            <a:r>
              <a:rPr lang="en-US" altLang="zh-CN" sz="1400" dirty="0"/>
              <a:t>  </a:t>
            </a:r>
            <a:r>
              <a:rPr lang="zh-CN" altLang="en-US" sz="1400" dirty="0">
                <a:solidFill>
                  <a:srgbClr val="0070C0"/>
                </a:solidFill>
              </a:rPr>
              <a:t>客户端支持的最高 </a:t>
            </a:r>
            <a:r>
              <a:rPr lang="en-US" altLang="zh-CN" sz="1400" dirty="0">
                <a:solidFill>
                  <a:srgbClr val="0070C0"/>
                </a:solidFill>
              </a:rPr>
              <a:t>TLS </a:t>
            </a:r>
            <a:r>
              <a:rPr lang="zh-CN" altLang="en-US" sz="1400" dirty="0">
                <a:solidFill>
                  <a:srgbClr val="0070C0"/>
                </a:solidFill>
              </a:rPr>
              <a:t>版本</a:t>
            </a:r>
            <a:endParaRPr lang="zh-CN" altLang="zh-CN" sz="1400" dirty="0">
              <a:solidFill>
                <a:srgbClr val="0070C0"/>
              </a:solidFill>
            </a:endParaRPr>
          </a:p>
          <a:p>
            <a:r>
              <a:rPr lang="zh-CN" altLang="zh-CN" sz="1400" dirty="0"/>
              <a:t>            Random: fb813030fe84acaaf64ca62259d99fd790d92e370a0c7051046065476791a9f2</a:t>
            </a:r>
          </a:p>
          <a:p>
            <a:r>
              <a:rPr lang="zh-CN" altLang="zh-CN" sz="1400" dirty="0"/>
              <a:t>            Session ID Length: 0</a:t>
            </a:r>
          </a:p>
          <a:p>
            <a:r>
              <a:rPr lang="zh-CN" altLang="zh-CN" sz="1400" dirty="0"/>
              <a:t>            Cipher Suites Length: 56</a:t>
            </a:r>
          </a:p>
          <a:p>
            <a:r>
              <a:rPr lang="zh-CN" altLang="zh-CN" sz="1400" dirty="0"/>
              <a:t>            Cipher Suites (28 suites)</a:t>
            </a:r>
          </a:p>
          <a:p>
            <a:r>
              <a:rPr lang="zh-CN" altLang="zh-CN" sz="1400" dirty="0"/>
              <a:t>            Compression Methods Length: 1</a:t>
            </a:r>
          </a:p>
          <a:p>
            <a:r>
              <a:rPr lang="zh-CN" altLang="zh-CN" sz="1400" dirty="0"/>
              <a:t>            Compression Methods (1 method)</a:t>
            </a:r>
          </a:p>
          <a:p>
            <a:r>
              <a:rPr lang="zh-CN" altLang="zh-CN" sz="1400" dirty="0"/>
              <a:t>            Extensions Length: 116</a:t>
            </a:r>
          </a:p>
          <a:p>
            <a:r>
              <a:rPr lang="zh-CN" altLang="zh-CN" sz="1400" dirty="0"/>
              <a:t>            Extension: server_name (len=24) name=tls-v1-2.badssl.com</a:t>
            </a:r>
          </a:p>
          <a:p>
            <a:r>
              <a:rPr lang="zh-CN" altLang="zh-CN" sz="1400" dirty="0"/>
              <a:t>            Extension: ec_point_formats (len=4)</a:t>
            </a:r>
          </a:p>
          <a:p>
            <a:r>
              <a:rPr lang="zh-CN" altLang="zh-CN" sz="1400" dirty="0"/>
              <a:t>            Extension: supported_groups (len=12)</a:t>
            </a:r>
          </a:p>
          <a:p>
            <a:r>
              <a:rPr lang="zh-CN" altLang="zh-CN" sz="1400" dirty="0"/>
              <a:t>            Extension: session_ticket (len=0)</a:t>
            </a:r>
          </a:p>
          <a:p>
            <a:r>
              <a:rPr lang="zh-CN" altLang="zh-CN" sz="1400" dirty="0"/>
              <a:t>            Extension: encrypt_then_mac (len=0)</a:t>
            </a:r>
          </a:p>
          <a:p>
            <a:r>
              <a:rPr lang="zh-CN" altLang="zh-CN" sz="1400" dirty="0"/>
              <a:t>            Extension: extended_master_secret (len=0)</a:t>
            </a:r>
          </a:p>
          <a:p>
            <a:r>
              <a:rPr lang="zh-CN" altLang="zh-CN" sz="1400" dirty="0"/>
              <a:t>            Extension: signature_algorithms (len=48)</a:t>
            </a:r>
          </a:p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36AF2C-3E06-7F5A-0A3D-2C5767CDE3BF}"/>
              </a:ext>
            </a:extLst>
          </p:cNvPr>
          <p:cNvSpPr txBox="1"/>
          <p:nvPr/>
        </p:nvSpPr>
        <p:spPr>
          <a:xfrm>
            <a:off x="5784111" y="199849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solidFill>
                  <a:srgbClr val="0070C0"/>
                </a:solidFill>
              </a:rPr>
              <a:t>由时间戳和随机字节组成的随机数，</a:t>
            </a:r>
            <a:endParaRPr lang="en-US" altLang="zh-CN" sz="1400" dirty="0">
              <a:solidFill>
                <a:srgbClr val="0070C0"/>
              </a:solidFill>
            </a:endParaRPr>
          </a:p>
          <a:p>
            <a:r>
              <a:rPr lang="zh-CN" altLang="zh-CN" sz="1400" dirty="0">
                <a:solidFill>
                  <a:srgbClr val="0070C0"/>
                </a:solidFill>
              </a:rPr>
              <a:t>参与主密钥的生成，防重放攻击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8CA2DE-1F3D-8BAE-E192-FAE62B251FAC}"/>
              </a:ext>
            </a:extLst>
          </p:cNvPr>
          <p:cNvSpPr txBox="1"/>
          <p:nvPr/>
        </p:nvSpPr>
        <p:spPr>
          <a:xfrm>
            <a:off x="2100853" y="2655518"/>
            <a:ext cx="2440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不提供</a:t>
            </a:r>
            <a:r>
              <a:rPr lang="en-US" altLang="zh-CN" sz="1400" dirty="0">
                <a:solidFill>
                  <a:srgbClr val="0070C0"/>
                </a:solidFill>
              </a:rPr>
              <a:t>Session ID, </a:t>
            </a:r>
            <a:r>
              <a:rPr lang="zh-CN" altLang="en-US" sz="1400" dirty="0">
                <a:solidFill>
                  <a:srgbClr val="0070C0"/>
                </a:solidFill>
              </a:rPr>
              <a:t>开启新对话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DE2D46-7605-9F67-F53E-1A113C1548B6}"/>
              </a:ext>
            </a:extLst>
          </p:cNvPr>
          <p:cNvSpPr txBox="1"/>
          <p:nvPr/>
        </p:nvSpPr>
        <p:spPr>
          <a:xfrm>
            <a:off x="3194138" y="2982084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支持的密码套件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02D17B-1F85-FD3D-EFCE-3AF93D5BC51D}"/>
              </a:ext>
            </a:extLst>
          </p:cNvPr>
          <p:cNvSpPr txBox="1"/>
          <p:nvPr/>
        </p:nvSpPr>
        <p:spPr>
          <a:xfrm>
            <a:off x="3194138" y="3414251"/>
            <a:ext cx="2101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不压缩，防止</a:t>
            </a:r>
            <a:r>
              <a:rPr lang="en-US" altLang="zh-CN" sz="1400" dirty="0">
                <a:solidFill>
                  <a:srgbClr val="0070C0"/>
                </a:solidFill>
              </a:rPr>
              <a:t>CRIME</a:t>
            </a:r>
            <a:r>
              <a:rPr lang="zh-CN" altLang="en-US" sz="1400" dirty="0">
                <a:solidFill>
                  <a:srgbClr val="0070C0"/>
                </a:solidFill>
              </a:rPr>
              <a:t>攻击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50E257-D424-1B63-2B4A-C376A34B43FF}"/>
              </a:ext>
            </a:extLst>
          </p:cNvPr>
          <p:cNvSpPr txBox="1"/>
          <p:nvPr/>
        </p:nvSpPr>
        <p:spPr>
          <a:xfrm>
            <a:off x="4889446" y="3751776"/>
            <a:ext cx="4142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告诉访问的域名，可能一个虚拟主机托管多个域名，</a:t>
            </a:r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zh-CN" altLang="zh-CN" sz="1200" dirty="0">
                <a:solidFill>
                  <a:srgbClr val="0070C0"/>
                </a:solidFill>
              </a:rPr>
              <a:t>服务器要根据这个信息返回对应证书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834B9C-39CB-5C89-A572-B1F609DE6391}"/>
              </a:ext>
            </a:extLst>
          </p:cNvPr>
          <p:cNvSpPr txBox="1"/>
          <p:nvPr/>
        </p:nvSpPr>
        <p:spPr>
          <a:xfrm>
            <a:off x="3320899" y="4155227"/>
            <a:ext cx="2598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</a:rPr>
              <a:t>支持的椭圆曲线公钥数据格式</a:t>
            </a:r>
            <a:endParaRPr lang="zh-CN" altLang="zh-CN" sz="1200" dirty="0">
              <a:solidFill>
                <a:srgbClr val="0070C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0B240E-4AB7-1B96-03B5-89A4C7BC9B6C}"/>
              </a:ext>
            </a:extLst>
          </p:cNvPr>
          <p:cNvSpPr txBox="1"/>
          <p:nvPr/>
        </p:nvSpPr>
        <p:spPr>
          <a:xfrm>
            <a:off x="3408581" y="4374012"/>
            <a:ext cx="41425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00" dirty="0">
                <a:solidFill>
                  <a:srgbClr val="0070C0"/>
                </a:solidFill>
              </a:rPr>
              <a:t>支持的椭圆参数组</a:t>
            </a:r>
            <a:endParaRPr lang="zh-CN" altLang="zh-CN" sz="1300" dirty="0">
              <a:solidFill>
                <a:srgbClr val="0070C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F1848A-FC8D-9D1C-90F8-0F91F208143F}"/>
              </a:ext>
            </a:extLst>
          </p:cNvPr>
          <p:cNvSpPr txBox="1"/>
          <p:nvPr/>
        </p:nvSpPr>
        <p:spPr>
          <a:xfrm>
            <a:off x="2909240" y="4567262"/>
            <a:ext cx="571312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300" dirty="0">
                <a:solidFill>
                  <a:srgbClr val="0070C0"/>
                </a:solidFill>
              </a:rPr>
              <a:t>支持通过会话票证复用会话，客户端首次连接时会发一个空扩展告知服务器。</a:t>
            </a:r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0A32FB-4BEB-47DA-6464-BBC1AD74358C}"/>
              </a:ext>
            </a:extLst>
          </p:cNvPr>
          <p:cNvSpPr txBox="1"/>
          <p:nvPr/>
        </p:nvSpPr>
        <p:spPr>
          <a:xfrm>
            <a:off x="3206960" y="4805537"/>
            <a:ext cx="62991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支持先加密再计算MAC（消息认证码），能防御针对 CBC 模式的部分 padding oracle 攻击</a:t>
            </a:r>
          </a:p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856E61-FAD6-608D-3479-C74B8AB785CD}"/>
              </a:ext>
            </a:extLst>
          </p:cNvPr>
          <p:cNvSpPr txBox="1"/>
          <p:nvPr/>
        </p:nvSpPr>
        <p:spPr>
          <a:xfrm>
            <a:off x="3735615" y="4990203"/>
            <a:ext cx="53527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300" dirty="0">
                <a:solidFill>
                  <a:srgbClr val="0070C0"/>
                </a:solidFill>
              </a:rPr>
              <a:t>支持把整个握手过程的消息摘要也掺进去计算，增强主密钥的安全性，</a:t>
            </a:r>
            <a:endParaRPr lang="en-US" altLang="zh-CN" sz="1300" dirty="0">
              <a:solidFill>
                <a:srgbClr val="0070C0"/>
              </a:solidFill>
            </a:endParaRPr>
          </a:p>
          <a:p>
            <a:r>
              <a:rPr lang="zh-CN" altLang="zh-CN" sz="1300" dirty="0">
                <a:solidFill>
                  <a:srgbClr val="0070C0"/>
                </a:solidFill>
              </a:rPr>
              <a:t>防御握手过程中被三方攻击者干预的连接劫持。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23C385-7287-9A16-7241-74ADD378F07D}"/>
              </a:ext>
            </a:extLst>
          </p:cNvPr>
          <p:cNvSpPr txBox="1"/>
          <p:nvPr/>
        </p:nvSpPr>
        <p:spPr>
          <a:xfrm>
            <a:off x="1147098" y="545186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支持的签名算法</a:t>
            </a:r>
          </a:p>
        </p:txBody>
      </p:sp>
    </p:spTree>
    <p:extLst>
      <p:ext uri="{BB962C8B-B14F-4D97-AF65-F5344CB8AC3E}">
        <p14:creationId xmlns:p14="http://schemas.microsoft.com/office/powerpoint/2010/main" val="277021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B9ED32-F3E9-CC9A-CE14-E36B98F81263}"/>
              </a:ext>
            </a:extLst>
          </p:cNvPr>
          <p:cNvSpPr txBox="1"/>
          <p:nvPr/>
        </p:nvSpPr>
        <p:spPr>
          <a:xfrm>
            <a:off x="0" y="0"/>
            <a:ext cx="897431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Server Hello</a:t>
            </a:r>
          </a:p>
          <a:p>
            <a:r>
              <a:rPr lang="zh-CN" altLang="zh-CN" dirty="0"/>
              <a:t>Transport Layer Security</a:t>
            </a:r>
          </a:p>
          <a:p>
            <a:r>
              <a:rPr lang="zh-CN" altLang="zh-CN" dirty="0"/>
              <a:t>    [Stream index: 56]</a:t>
            </a:r>
          </a:p>
          <a:p>
            <a:r>
              <a:rPr lang="zh-CN" altLang="zh-CN" dirty="0"/>
              <a:t>    TLSv1.2 Record Layer: Handshake Protocol: Server Hello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61</a:t>
            </a:r>
          </a:p>
          <a:p>
            <a:r>
              <a:rPr lang="zh-CN" altLang="zh-CN" dirty="0"/>
              <a:t>        Handshake Protocol: Server Hello</a:t>
            </a:r>
          </a:p>
          <a:p>
            <a:r>
              <a:rPr lang="zh-CN" altLang="zh-CN" dirty="0"/>
              <a:t>            Handshake Type: Server Hello (2)</a:t>
            </a:r>
          </a:p>
          <a:p>
            <a:r>
              <a:rPr lang="zh-CN" altLang="zh-CN" dirty="0"/>
              <a:t>            Length: 57</a:t>
            </a:r>
          </a:p>
          <a:p>
            <a:r>
              <a:rPr lang="zh-CN" altLang="zh-CN" dirty="0"/>
              <a:t>            Version: TLS 1.2 (0x0303)</a:t>
            </a:r>
          </a:p>
          <a:p>
            <a:r>
              <a:rPr lang="zh-CN" altLang="zh-CN" dirty="0"/>
              <a:t>            Random: 486a974c8e660d73f1b7ad2823180dbfd77b11d5d58cd9a5384aaf77f97eb05c</a:t>
            </a:r>
          </a:p>
          <a:p>
            <a:r>
              <a:rPr lang="zh-CN" altLang="zh-CN" dirty="0"/>
              <a:t>            Session ID Length: 0</a:t>
            </a:r>
          </a:p>
          <a:p>
            <a:r>
              <a:rPr lang="zh-CN" altLang="zh-CN" dirty="0"/>
              <a:t>            Cipher Suite: TLS_ECDHE_RSA_WITH_AES_256_GCM_SHA384 (0xc030)</a:t>
            </a:r>
          </a:p>
          <a:p>
            <a:r>
              <a:rPr lang="zh-CN" altLang="zh-CN" dirty="0"/>
              <a:t>            Compression Method: null (0)</a:t>
            </a:r>
          </a:p>
          <a:p>
            <a:r>
              <a:rPr lang="zh-CN" altLang="zh-CN" dirty="0"/>
              <a:t>            Extensions Length: 17</a:t>
            </a:r>
          </a:p>
          <a:p>
            <a:r>
              <a:rPr lang="zh-CN" altLang="zh-CN" dirty="0"/>
              <a:t>            Extension: renegotiation_info (len=1)</a:t>
            </a:r>
          </a:p>
          <a:p>
            <a:r>
              <a:rPr lang="zh-CN" altLang="zh-CN" dirty="0"/>
              <a:t>            Extension: ec_point_formats (len=4)</a:t>
            </a:r>
          </a:p>
          <a:p>
            <a:r>
              <a:rPr lang="zh-CN" altLang="zh-CN" dirty="0"/>
              <a:t>            Extension: session_ticket (len=0)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7D9025-29B6-14D5-6121-F27A3C1A515B}"/>
              </a:ext>
            </a:extLst>
          </p:cNvPr>
          <p:cNvSpPr txBox="1"/>
          <p:nvPr/>
        </p:nvSpPr>
        <p:spPr>
          <a:xfrm>
            <a:off x="3671753" y="2785377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服务器发送的随机数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29FF00-B67B-7E94-9C21-3627E0D39FEB}"/>
              </a:ext>
            </a:extLst>
          </p:cNvPr>
          <p:cNvSpPr txBox="1"/>
          <p:nvPr/>
        </p:nvSpPr>
        <p:spPr>
          <a:xfrm>
            <a:off x="2687968" y="3320070"/>
            <a:ext cx="3257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不发送</a:t>
            </a:r>
            <a:r>
              <a:rPr lang="en-US" altLang="zh-CN" sz="1400" dirty="0">
                <a:solidFill>
                  <a:srgbClr val="0070C0"/>
                </a:solidFill>
              </a:rPr>
              <a:t>Session ID</a:t>
            </a:r>
            <a:r>
              <a:rPr lang="zh-CN" altLang="en-US" sz="1400" dirty="0">
                <a:solidFill>
                  <a:srgbClr val="0070C0"/>
                </a:solidFill>
              </a:rPr>
              <a:t>，表明开始建立新会话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5FB185-6E5E-F7DA-5B0E-2DEEF4ABEED0}"/>
              </a:ext>
            </a:extLst>
          </p:cNvPr>
          <p:cNvSpPr txBox="1"/>
          <p:nvPr/>
        </p:nvSpPr>
        <p:spPr>
          <a:xfrm>
            <a:off x="7347875" y="362477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选定的密码套件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12867B-5935-C6A7-0899-35091BF6FE14}"/>
              </a:ext>
            </a:extLst>
          </p:cNvPr>
          <p:cNvSpPr txBox="1"/>
          <p:nvPr/>
        </p:nvSpPr>
        <p:spPr>
          <a:xfrm>
            <a:off x="3610384" y="385476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同意不压缩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828A01-DA5C-4EA9-961B-F7D10D4E06E8}"/>
              </a:ext>
            </a:extLst>
          </p:cNvPr>
          <p:cNvSpPr txBox="1"/>
          <p:nvPr/>
        </p:nvSpPr>
        <p:spPr>
          <a:xfrm>
            <a:off x="4452181" y="4040815"/>
            <a:ext cx="45479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rgbClr val="0070C0"/>
                </a:solidFill>
              </a:rPr>
              <a:t>renegotiation_info 表明服务器支持安全重协商，用于把后续重协商与当前连接绑定，防止前缀注入式重协商攻击。</a:t>
            </a:r>
            <a:endParaRPr lang="zh-CN" altLang="en-US" sz="1400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57A350-8888-BF67-BED0-CE1FDC63AAAF}"/>
              </a:ext>
            </a:extLst>
          </p:cNvPr>
          <p:cNvSpPr txBox="1"/>
          <p:nvPr/>
        </p:nvSpPr>
        <p:spPr>
          <a:xfrm>
            <a:off x="4237771" y="4712758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支持的椭圆曲线点的格式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CADCA6-833F-9E3E-CF47-6F76F7EE33BA}"/>
              </a:ext>
            </a:extLst>
          </p:cNvPr>
          <p:cNvSpPr txBox="1"/>
          <p:nvPr/>
        </p:nvSpPr>
        <p:spPr>
          <a:xfrm>
            <a:off x="3890930" y="49767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支持发送票证</a:t>
            </a:r>
          </a:p>
        </p:txBody>
      </p:sp>
    </p:spTree>
    <p:extLst>
      <p:ext uri="{BB962C8B-B14F-4D97-AF65-F5344CB8AC3E}">
        <p14:creationId xmlns:p14="http://schemas.microsoft.com/office/powerpoint/2010/main" val="7193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8D8DD1-8DD4-E90D-E9F9-EC10D2B8B61E}"/>
              </a:ext>
            </a:extLst>
          </p:cNvPr>
          <p:cNvSpPr txBox="1"/>
          <p:nvPr/>
        </p:nvSpPr>
        <p:spPr>
          <a:xfrm>
            <a:off x="0" y="44144"/>
            <a:ext cx="543232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Certificate</a:t>
            </a:r>
          </a:p>
          <a:p>
            <a:r>
              <a:rPr lang="zh-CN" altLang="zh-CN" dirty="0"/>
              <a:t>Transport Layer Security</a:t>
            </a:r>
          </a:p>
          <a:p>
            <a:r>
              <a:rPr lang="zh-CN" altLang="zh-CN" dirty="0"/>
              <a:t>    [Stream index: 56]</a:t>
            </a:r>
          </a:p>
          <a:p>
            <a:r>
              <a:rPr lang="zh-CN" altLang="zh-CN" dirty="0"/>
              <a:t>    TLSv1.2 Record Layer: Handshake Protocol: Certificate</a:t>
            </a:r>
          </a:p>
          <a:p>
            <a:r>
              <a:rPr lang="zh-CN" altLang="zh-CN" dirty="0"/>
              <a:t>        Content Type: Handshake (22)</a:t>
            </a:r>
            <a:endParaRPr lang="en-US" altLang="zh-CN" dirty="0"/>
          </a:p>
          <a:p>
            <a:r>
              <a:rPr lang="zh-CN" altLang="zh-CN" dirty="0"/>
              <a:t>        Version: TLS 1.2 (0x0303)</a:t>
            </a:r>
            <a:endParaRPr lang="en-US" altLang="zh-CN" dirty="0"/>
          </a:p>
          <a:p>
            <a:r>
              <a:rPr lang="zh-CN" altLang="zh-CN" dirty="0"/>
              <a:t>        Length: 2584 </a:t>
            </a:r>
            <a:endParaRPr lang="en-US" altLang="zh-CN" dirty="0"/>
          </a:p>
          <a:p>
            <a:r>
              <a:rPr lang="zh-CN" altLang="zh-CN" dirty="0"/>
              <a:t>        Handshake Protocol: Certificate</a:t>
            </a:r>
          </a:p>
          <a:p>
            <a:r>
              <a:rPr lang="zh-CN" altLang="zh-CN" dirty="0"/>
              <a:t>            Handshake Type: Certificate (11) </a:t>
            </a:r>
            <a:endParaRPr lang="en-US" altLang="zh-CN" dirty="0"/>
          </a:p>
          <a:p>
            <a:r>
              <a:rPr lang="zh-CN" altLang="zh-CN" dirty="0"/>
              <a:t>            Length: 2580 </a:t>
            </a:r>
            <a:endParaRPr lang="en-US" altLang="zh-CN" dirty="0"/>
          </a:p>
          <a:p>
            <a:r>
              <a:rPr lang="zh-CN" altLang="zh-CN" dirty="0"/>
              <a:t>            Certificates Length: 2577 </a:t>
            </a:r>
            <a:endParaRPr lang="en-US" altLang="zh-CN" dirty="0"/>
          </a:p>
          <a:p>
            <a:r>
              <a:rPr lang="zh-CN" altLang="zh-CN" dirty="0"/>
              <a:t>            Certificates (2577 bytes)</a:t>
            </a:r>
          </a:p>
          <a:p>
            <a:r>
              <a:rPr lang="zh-CN" altLang="zh-CN" dirty="0"/>
              <a:t>                Certificate Length: 1282</a:t>
            </a:r>
          </a:p>
          <a:p>
            <a:r>
              <a:rPr lang="zh-CN" altLang="zh-CN" dirty="0"/>
              <a:t>                Certificate […]: </a:t>
            </a:r>
            <a:r>
              <a:rPr lang="en-US" altLang="zh-CN" dirty="0"/>
              <a:t>…</a:t>
            </a:r>
          </a:p>
          <a:p>
            <a:r>
              <a:rPr lang="en-US" altLang="zh-CN" dirty="0"/>
              <a:t>	       </a:t>
            </a:r>
            <a:r>
              <a:rPr lang="zh-CN" altLang="zh-CN" dirty="0"/>
              <a:t>Certificate Length: 1289</a:t>
            </a:r>
          </a:p>
          <a:p>
            <a:r>
              <a:rPr lang="zh-CN" altLang="zh-CN" dirty="0"/>
              <a:t>                Certificate […]: </a:t>
            </a:r>
            <a:r>
              <a:rPr lang="en-US" altLang="zh-CN" dirty="0"/>
              <a:t>…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CA8BDF-A5A5-5F32-16C6-FF4EC0A7CD0A}"/>
              </a:ext>
            </a:extLst>
          </p:cNvPr>
          <p:cNvSpPr txBox="1"/>
          <p:nvPr/>
        </p:nvSpPr>
        <p:spPr>
          <a:xfrm>
            <a:off x="737826" y="4537681"/>
            <a:ext cx="4134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服务器发送完整证书链，包括实体证书和中间证书</a:t>
            </a:r>
          </a:p>
        </p:txBody>
      </p:sp>
    </p:spTree>
    <p:extLst>
      <p:ext uri="{BB962C8B-B14F-4D97-AF65-F5344CB8AC3E}">
        <p14:creationId xmlns:p14="http://schemas.microsoft.com/office/powerpoint/2010/main" val="75815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1C9CEB-0001-B11E-F57A-775FDD3EB6F7}"/>
              </a:ext>
            </a:extLst>
          </p:cNvPr>
          <p:cNvSpPr txBox="1"/>
          <p:nvPr/>
        </p:nvSpPr>
        <p:spPr>
          <a:xfrm>
            <a:off x="0" y="56756"/>
            <a:ext cx="638777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Server Key Exchange</a:t>
            </a:r>
          </a:p>
          <a:p>
            <a:r>
              <a:rPr lang="zh-CN" altLang="zh-CN" dirty="0"/>
              <a:t>Transport Layer Security</a:t>
            </a:r>
          </a:p>
          <a:p>
            <a:r>
              <a:rPr lang="zh-CN" altLang="zh-CN" dirty="0"/>
              <a:t>    [Stream index: 56]</a:t>
            </a:r>
          </a:p>
          <a:p>
            <a:r>
              <a:rPr lang="zh-CN" altLang="zh-CN" dirty="0"/>
              <a:t>    TLSv1.2 Record Layer: Handshake Protocol: Server Key Exchange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333</a:t>
            </a:r>
          </a:p>
          <a:p>
            <a:r>
              <a:rPr lang="zh-CN" altLang="zh-CN" dirty="0"/>
              <a:t>        Handshake Protocol: Server Key Exchange</a:t>
            </a:r>
          </a:p>
          <a:p>
            <a:r>
              <a:rPr lang="zh-CN" altLang="zh-CN" dirty="0"/>
              <a:t>            Handshake Type: Server Key Exchange (12)</a:t>
            </a:r>
          </a:p>
          <a:p>
            <a:r>
              <a:rPr lang="zh-CN" altLang="zh-CN" dirty="0"/>
              <a:t>            Length: 329</a:t>
            </a:r>
          </a:p>
          <a:p>
            <a:r>
              <a:rPr lang="zh-CN" altLang="zh-CN" dirty="0"/>
              <a:t>            EC Diffie-Hellman Server Params</a:t>
            </a:r>
          </a:p>
          <a:p>
            <a:r>
              <a:rPr lang="zh-CN" altLang="zh-CN" dirty="0"/>
              <a:t>                Curve Type: named_curve (0x03)</a:t>
            </a:r>
          </a:p>
          <a:p>
            <a:r>
              <a:rPr lang="zh-CN" altLang="zh-CN" dirty="0"/>
              <a:t>                Named Curve: secp256r1 (0x0017)</a:t>
            </a:r>
          </a:p>
          <a:p>
            <a:r>
              <a:rPr lang="zh-CN" altLang="zh-CN" dirty="0"/>
              <a:t>                Pubkey Length: 65</a:t>
            </a:r>
          </a:p>
          <a:p>
            <a:r>
              <a:rPr lang="zh-CN" altLang="zh-CN" dirty="0"/>
              <a:t>                Pubkey: </a:t>
            </a:r>
            <a:r>
              <a:rPr lang="en-US" altLang="zh-CN" dirty="0"/>
              <a:t>…</a:t>
            </a:r>
            <a:r>
              <a:rPr lang="zh-CN" altLang="zh-CN" dirty="0"/>
              <a:t> </a:t>
            </a:r>
            <a:endParaRPr lang="en-US" altLang="zh-CN" dirty="0"/>
          </a:p>
          <a:p>
            <a:r>
              <a:rPr lang="zh-CN" altLang="zh-CN" dirty="0"/>
              <a:t>               </a:t>
            </a:r>
            <a:r>
              <a:rPr lang="en-US" altLang="zh-CN" dirty="0"/>
              <a:t> </a:t>
            </a:r>
            <a:r>
              <a:rPr lang="zh-CN" altLang="zh-CN" dirty="0"/>
              <a:t>Signature Algorithm: rsa_pkcs1_sha512 (0x0601)</a:t>
            </a:r>
          </a:p>
          <a:p>
            <a:r>
              <a:rPr lang="zh-CN" altLang="zh-CN" dirty="0"/>
              <a:t>                    Signature Hash Algorithm Hash: SHA512 (6)</a:t>
            </a:r>
          </a:p>
          <a:p>
            <a:r>
              <a:rPr lang="zh-CN" altLang="zh-CN" dirty="0"/>
              <a:t>                    Signature Hash Algorithm Signature: RSA (1)</a:t>
            </a:r>
          </a:p>
          <a:p>
            <a:r>
              <a:rPr lang="zh-CN" altLang="zh-CN" dirty="0"/>
              <a:t>                Signature Length: 256</a:t>
            </a:r>
          </a:p>
          <a:p>
            <a:r>
              <a:rPr lang="zh-CN" altLang="zh-CN" dirty="0"/>
              <a:t>                Signature […]: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C76403-B346-BBF4-F44F-28690F1AC650}"/>
              </a:ext>
            </a:extLst>
          </p:cNvPr>
          <p:cNvSpPr txBox="1"/>
          <p:nvPr/>
        </p:nvSpPr>
        <p:spPr>
          <a:xfrm>
            <a:off x="3960298" y="2807488"/>
            <a:ext cx="2385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</a:rPr>
              <a:t>ECDH</a:t>
            </a:r>
            <a:r>
              <a:rPr lang="zh-CN" altLang="en-US" sz="1400" dirty="0">
                <a:solidFill>
                  <a:srgbClr val="0070C0"/>
                </a:solidFill>
              </a:rPr>
              <a:t>生成密钥的服务器参数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BB3042-57D1-9F7B-B218-9DB9AC6FE6FA}"/>
              </a:ext>
            </a:extLst>
          </p:cNvPr>
          <p:cNvSpPr txBox="1"/>
          <p:nvPr/>
        </p:nvSpPr>
        <p:spPr>
          <a:xfrm>
            <a:off x="4313446" y="3365937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决定用于密钥交换的椭圆曲线类型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42B83A-F6B5-F191-88F6-227FAB6E4B4A}"/>
              </a:ext>
            </a:extLst>
          </p:cNvPr>
          <p:cNvSpPr txBox="1"/>
          <p:nvPr/>
        </p:nvSpPr>
        <p:spPr>
          <a:xfrm>
            <a:off x="3149819" y="3913614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服务器发送的公钥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1F6F53-0DC0-0CA7-486F-44616CB0CD0B}"/>
              </a:ext>
            </a:extLst>
          </p:cNvPr>
          <p:cNvSpPr txBox="1"/>
          <p:nvPr/>
        </p:nvSpPr>
        <p:spPr>
          <a:xfrm>
            <a:off x="2203872" y="5627496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服务器用证书私钥签名</a:t>
            </a:r>
          </a:p>
        </p:txBody>
      </p:sp>
    </p:spTree>
    <p:extLst>
      <p:ext uri="{BB962C8B-B14F-4D97-AF65-F5344CB8AC3E}">
        <p14:creationId xmlns:p14="http://schemas.microsoft.com/office/powerpoint/2010/main" val="248003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2EA4CF-FB2E-D939-D2CA-C63CECCA62F3}"/>
              </a:ext>
            </a:extLst>
          </p:cNvPr>
          <p:cNvSpPr txBox="1"/>
          <p:nvPr/>
        </p:nvSpPr>
        <p:spPr>
          <a:xfrm>
            <a:off x="0" y="-12613"/>
            <a:ext cx="616168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Server Hello Done</a:t>
            </a:r>
          </a:p>
          <a:p>
            <a:r>
              <a:rPr lang="zh-CN" altLang="zh-CN" dirty="0"/>
              <a:t>Transport Layer Security</a:t>
            </a:r>
          </a:p>
          <a:p>
            <a:r>
              <a:rPr lang="zh-CN" altLang="zh-CN" dirty="0"/>
              <a:t>    [Stream index: 56]</a:t>
            </a:r>
          </a:p>
          <a:p>
            <a:r>
              <a:rPr lang="zh-CN" altLang="zh-CN" dirty="0"/>
              <a:t>    TLSv1.2 Record Layer: Handshake Protocol: Server Hello Done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4</a:t>
            </a:r>
          </a:p>
          <a:p>
            <a:r>
              <a:rPr lang="zh-CN" altLang="zh-CN" dirty="0"/>
              <a:t>        Handshake Protocol: Server Hello Done</a:t>
            </a:r>
          </a:p>
          <a:p>
            <a:r>
              <a:rPr lang="zh-CN" altLang="zh-CN" dirty="0"/>
              <a:t>            Handshake Type: Server Hello Done (14)</a:t>
            </a:r>
          </a:p>
          <a:p>
            <a:r>
              <a:rPr lang="zh-CN" altLang="zh-CN" dirty="0"/>
              <a:t>            Length: 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8881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D40301-B7D1-8DC3-74AE-E3676F4A44BB}"/>
              </a:ext>
            </a:extLst>
          </p:cNvPr>
          <p:cNvSpPr txBox="1"/>
          <p:nvPr/>
        </p:nvSpPr>
        <p:spPr>
          <a:xfrm>
            <a:off x="0" y="6305"/>
            <a:ext cx="7379584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Client Key Exchange, Change Cipher Spec, Encrypted Handshake Message</a:t>
            </a:r>
          </a:p>
          <a:p>
            <a:r>
              <a:rPr lang="zh-CN" altLang="zh-CN" dirty="0"/>
              <a:t>Transport Layer Security</a:t>
            </a:r>
          </a:p>
          <a:p>
            <a:r>
              <a:rPr lang="zh-CN" altLang="zh-CN" dirty="0"/>
              <a:t>    [Stream index: 42]</a:t>
            </a:r>
          </a:p>
          <a:p>
            <a:r>
              <a:rPr lang="zh-CN" altLang="zh-CN" dirty="0"/>
              <a:t>    TLSv1.2 Record Layer: Handshake Protocol: Client Key Exchange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70</a:t>
            </a:r>
          </a:p>
          <a:p>
            <a:r>
              <a:rPr lang="zh-CN" altLang="zh-CN" dirty="0"/>
              <a:t>        Handshake Protocol: Client Key Exchange</a:t>
            </a:r>
          </a:p>
          <a:p>
            <a:r>
              <a:rPr lang="zh-CN" altLang="zh-CN" dirty="0"/>
              <a:t>            Handshake Type: Client Key Exchange (16)</a:t>
            </a:r>
          </a:p>
          <a:p>
            <a:r>
              <a:rPr lang="zh-CN" altLang="zh-CN" dirty="0"/>
              <a:t>            Length: 66</a:t>
            </a:r>
          </a:p>
          <a:p>
            <a:r>
              <a:rPr lang="zh-CN" altLang="zh-CN" dirty="0"/>
              <a:t>            EC Diffie-Hellman Client Params</a:t>
            </a:r>
          </a:p>
          <a:p>
            <a:r>
              <a:rPr lang="zh-CN" altLang="zh-CN" dirty="0"/>
              <a:t>                Pubkey Length: 65</a:t>
            </a:r>
          </a:p>
          <a:p>
            <a:r>
              <a:rPr lang="zh-CN" altLang="zh-CN" dirty="0"/>
              <a:t>                Pubkey: </a:t>
            </a:r>
            <a:r>
              <a:rPr lang="en-US" altLang="zh-CN" dirty="0"/>
              <a:t>…</a:t>
            </a:r>
          </a:p>
          <a:p>
            <a:r>
              <a:rPr lang="zh-CN" altLang="zh-CN" dirty="0"/>
              <a:t>    TLSv1.2 Record Layer: Change Cipher Spec Protocol: Change Cipher Spec</a:t>
            </a:r>
          </a:p>
          <a:p>
            <a:r>
              <a:rPr lang="zh-CN" altLang="zh-CN" dirty="0"/>
              <a:t>        Content Type: Change Cipher Spec (20)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1</a:t>
            </a:r>
          </a:p>
          <a:p>
            <a:r>
              <a:rPr lang="zh-CN" altLang="zh-CN" dirty="0"/>
              <a:t>        Change Cipher Spec Message</a:t>
            </a:r>
          </a:p>
          <a:p>
            <a:r>
              <a:rPr lang="zh-CN" altLang="zh-CN" dirty="0"/>
              <a:t>    TLSv1.2 Record Layer: Handshake Protocol: Encrypted Handshake Message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40</a:t>
            </a:r>
          </a:p>
          <a:p>
            <a:r>
              <a:rPr lang="zh-CN" altLang="zh-CN" dirty="0"/>
              <a:t>        Handshake Protocol: Encrypted Handshake Message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3EFBD3-6BDF-384E-FDC3-669CBE195C71}"/>
              </a:ext>
            </a:extLst>
          </p:cNvPr>
          <p:cNvSpPr txBox="1"/>
          <p:nvPr/>
        </p:nvSpPr>
        <p:spPr>
          <a:xfrm>
            <a:off x="4035971" y="5385503"/>
            <a:ext cx="3973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据推测，这里是用于检验双方生成的密钥是否相同的</a:t>
            </a:r>
            <a:r>
              <a:rPr lang="en-US" altLang="zh-CN" sz="1400" dirty="0">
                <a:solidFill>
                  <a:srgbClr val="0070C0"/>
                </a:solidFill>
              </a:rPr>
              <a:t>Finished</a:t>
            </a:r>
            <a:r>
              <a:rPr lang="zh-CN" altLang="en-US" sz="1400" dirty="0">
                <a:solidFill>
                  <a:srgbClr val="0070C0"/>
                </a:solidFill>
              </a:rPr>
              <a:t>消息</a:t>
            </a:r>
          </a:p>
        </p:txBody>
      </p:sp>
    </p:spTree>
    <p:extLst>
      <p:ext uri="{BB962C8B-B14F-4D97-AF65-F5344CB8AC3E}">
        <p14:creationId xmlns:p14="http://schemas.microsoft.com/office/powerpoint/2010/main" val="167607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5A708D-213F-0686-5C42-19DE0E27E56D}"/>
              </a:ext>
            </a:extLst>
          </p:cNvPr>
          <p:cNvSpPr txBox="1"/>
          <p:nvPr/>
        </p:nvSpPr>
        <p:spPr>
          <a:xfrm>
            <a:off x="0" y="-59909"/>
            <a:ext cx="7661328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New Session Ticket, Change Cipher Spec, Encrypted Handshake Message</a:t>
            </a:r>
          </a:p>
          <a:p>
            <a:r>
              <a:rPr lang="zh-CN" altLang="zh-CN" dirty="0"/>
              <a:t>Transport Layer Security</a:t>
            </a:r>
          </a:p>
          <a:p>
            <a:r>
              <a:rPr lang="zh-CN" altLang="zh-CN" dirty="0"/>
              <a:t>    [Stream index: 56]</a:t>
            </a:r>
          </a:p>
          <a:p>
            <a:r>
              <a:rPr lang="zh-CN" altLang="zh-CN" dirty="0"/>
              <a:t>    TLSv1.2 Record Layer: Handshake Protocol: New Session Ticket</a:t>
            </a:r>
          </a:p>
          <a:p>
            <a:r>
              <a:rPr lang="zh-CN" altLang="zh-CN" dirty="0"/>
              <a:t>    // 新会话票据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202</a:t>
            </a:r>
          </a:p>
          <a:p>
            <a:r>
              <a:rPr lang="zh-CN" altLang="zh-CN" dirty="0"/>
              <a:t>        Handshake Protocol: New Session Ticket</a:t>
            </a:r>
          </a:p>
          <a:p>
            <a:r>
              <a:rPr lang="zh-CN" altLang="zh-CN" dirty="0"/>
              <a:t>            Handshake Type: New Session Ticket (4)</a:t>
            </a:r>
          </a:p>
          <a:p>
            <a:r>
              <a:rPr lang="zh-CN" altLang="zh-CN" dirty="0"/>
              <a:t>            Length: 198</a:t>
            </a:r>
          </a:p>
          <a:p>
            <a:r>
              <a:rPr lang="zh-CN" altLang="zh-CN" dirty="0"/>
              <a:t>            TLS Session Ticket</a:t>
            </a:r>
          </a:p>
          <a:p>
            <a:r>
              <a:rPr lang="zh-CN" altLang="zh-CN" dirty="0"/>
              <a:t>                Session Ticket Lifetime Hint: 300 seconds (5 minutes)</a:t>
            </a:r>
          </a:p>
          <a:p>
            <a:r>
              <a:rPr lang="zh-CN" altLang="zh-CN" dirty="0"/>
              <a:t>                Session Ticket Length: 192</a:t>
            </a:r>
          </a:p>
          <a:p>
            <a:r>
              <a:rPr lang="zh-CN" altLang="zh-CN" dirty="0"/>
              <a:t>                Session Ticket […]: </a:t>
            </a:r>
            <a:r>
              <a:rPr lang="en-US" altLang="zh-CN" dirty="0"/>
              <a:t>…</a:t>
            </a:r>
          </a:p>
          <a:p>
            <a:r>
              <a:rPr lang="zh-CN" altLang="zh-CN" dirty="0"/>
              <a:t>    TLSv1.2 Record Layer: Change Cipher Spec Protocol: Change Cipher Spec</a:t>
            </a:r>
          </a:p>
          <a:p>
            <a:r>
              <a:rPr lang="zh-CN" altLang="zh-CN" dirty="0"/>
              <a:t>        Content Type: Change Cipher Spec (20)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1</a:t>
            </a:r>
          </a:p>
          <a:p>
            <a:r>
              <a:rPr lang="zh-CN" altLang="zh-CN" dirty="0"/>
              <a:t>        Change Cipher Spec Message</a:t>
            </a:r>
          </a:p>
          <a:p>
            <a:r>
              <a:rPr lang="zh-CN" altLang="zh-CN" dirty="0"/>
              <a:t>    TLSv1.2 Record Layer: Handshake Protocol: Encrypted Handshake Message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40</a:t>
            </a:r>
          </a:p>
          <a:p>
            <a:r>
              <a:rPr lang="zh-CN" altLang="zh-CN" dirty="0"/>
              <a:t>        Handshake Protocol: Encrypted Handshake Message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99321-A97E-80D3-9245-6B5ECCD4721A}"/>
              </a:ext>
            </a:extLst>
          </p:cNvPr>
          <p:cNvSpPr txBox="1"/>
          <p:nvPr/>
        </p:nvSpPr>
        <p:spPr>
          <a:xfrm>
            <a:off x="5934141" y="327511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票据生存周期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7814B0-C0B4-74C4-B94B-A20D3A2EB565}"/>
              </a:ext>
            </a:extLst>
          </p:cNvPr>
          <p:cNvSpPr txBox="1"/>
          <p:nvPr/>
        </p:nvSpPr>
        <p:spPr>
          <a:xfrm>
            <a:off x="2825409" y="3839643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发送票据，用于会话恢复</a:t>
            </a:r>
          </a:p>
        </p:txBody>
      </p:sp>
    </p:spTree>
    <p:extLst>
      <p:ext uri="{BB962C8B-B14F-4D97-AF65-F5344CB8AC3E}">
        <p14:creationId xmlns:p14="http://schemas.microsoft.com/office/powerpoint/2010/main" val="2777930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1635-5E70-3D76-2F0F-0569AB6A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B674EAC-18F9-1864-0273-C0C3EE120FF6}"/>
              </a:ext>
            </a:extLst>
          </p:cNvPr>
          <p:cNvSpPr txBox="1"/>
          <p:nvPr/>
        </p:nvSpPr>
        <p:spPr>
          <a:xfrm>
            <a:off x="497393" y="2386420"/>
            <a:ext cx="2877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1B4F72"/>
                </a:solidFill>
              </a:rPr>
              <a:t>会话恢复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CF4B75-ADD5-2363-E1A5-907062488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411" y="662151"/>
            <a:ext cx="5023003" cy="514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4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62B9C2-C8CC-8BAC-CB16-4EF8EE2BC162}"/>
              </a:ext>
            </a:extLst>
          </p:cNvPr>
          <p:cNvSpPr txBox="1"/>
          <p:nvPr/>
        </p:nvSpPr>
        <p:spPr>
          <a:xfrm>
            <a:off x="0" y="-5417"/>
            <a:ext cx="8153514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Client Hello</a:t>
            </a:r>
          </a:p>
          <a:p>
            <a:r>
              <a:rPr lang="zh-CN" altLang="zh-CN" sz="1600" dirty="0"/>
              <a:t>Transport Layer Security</a:t>
            </a:r>
          </a:p>
          <a:p>
            <a:r>
              <a:rPr lang="zh-CN" altLang="zh-CN" sz="1600" dirty="0"/>
              <a:t>    [Stream index: 64]</a:t>
            </a:r>
          </a:p>
          <a:p>
            <a:r>
              <a:rPr lang="zh-CN" altLang="zh-CN" sz="1600" dirty="0"/>
              <a:t>    TLSv1.2 Record Layer: Handshake Protocol: Client Hello</a:t>
            </a:r>
          </a:p>
          <a:p>
            <a:r>
              <a:rPr lang="zh-CN" altLang="zh-CN" sz="1600" dirty="0"/>
              <a:t>        Content Type: Handshake (22)</a:t>
            </a:r>
          </a:p>
          <a:p>
            <a:r>
              <a:rPr lang="zh-CN" altLang="zh-CN" sz="1600" dirty="0"/>
              <a:t>        Version: TLS 1.0 (0x0301)</a:t>
            </a:r>
          </a:p>
          <a:p>
            <a:r>
              <a:rPr lang="zh-CN" altLang="zh-CN" sz="1600" dirty="0"/>
              <a:t>        Length: 441</a:t>
            </a:r>
          </a:p>
          <a:p>
            <a:r>
              <a:rPr lang="zh-CN" altLang="zh-CN" sz="1600" dirty="0"/>
              <a:t>        Handshake Protocol: Client Hello</a:t>
            </a:r>
          </a:p>
          <a:p>
            <a:r>
              <a:rPr lang="zh-CN" altLang="zh-CN" sz="1600" dirty="0"/>
              <a:t>            Handshake Type: Client Hello (1)</a:t>
            </a:r>
          </a:p>
          <a:p>
            <a:r>
              <a:rPr lang="zh-CN" altLang="zh-CN" sz="1600" dirty="0"/>
              <a:t>            Length: 437</a:t>
            </a:r>
          </a:p>
          <a:p>
            <a:r>
              <a:rPr lang="zh-CN" altLang="zh-CN" sz="1600" dirty="0"/>
              <a:t>            Version: TLS 1.2 (0x0303)</a:t>
            </a:r>
          </a:p>
          <a:p>
            <a:r>
              <a:rPr lang="zh-CN" altLang="zh-CN" sz="1600" dirty="0"/>
              <a:t>            Random: c2651511a1523bcbb49c8610bd0c9d43cb62c299b591ab0dd799977453afe31d</a:t>
            </a:r>
          </a:p>
          <a:p>
            <a:r>
              <a:rPr lang="zh-CN" altLang="zh-CN" sz="1600" dirty="0"/>
              <a:t>            Session ID Length: 32</a:t>
            </a:r>
          </a:p>
          <a:p>
            <a:r>
              <a:rPr lang="zh-CN" altLang="zh-CN" sz="1600" dirty="0"/>
              <a:t>            Session ID: 85c332e37eae0728f4949d7e57e205ddb9d01590a8ec0ec9dfc4fb03011633e3</a:t>
            </a:r>
          </a:p>
          <a:p>
            <a:r>
              <a:rPr lang="zh-CN" altLang="zh-CN" sz="1600" dirty="0"/>
              <a:t>            Cipher Suites Length: 56</a:t>
            </a:r>
          </a:p>
          <a:p>
            <a:r>
              <a:rPr lang="zh-CN" altLang="zh-CN" sz="1600" dirty="0"/>
              <a:t>            Cipher Suites (28 suites)</a:t>
            </a:r>
          </a:p>
          <a:p>
            <a:r>
              <a:rPr lang="zh-CN" altLang="zh-CN" sz="1600" dirty="0"/>
              <a:t>            Compression Methods Length: 1</a:t>
            </a:r>
          </a:p>
          <a:p>
            <a:r>
              <a:rPr lang="zh-CN" altLang="zh-CN" sz="1600" dirty="0"/>
              <a:t>            Compression Methods (1 method)</a:t>
            </a:r>
          </a:p>
          <a:p>
            <a:r>
              <a:rPr lang="zh-CN" altLang="zh-CN" sz="1600" dirty="0"/>
              <a:t>            Extensions Length: 308</a:t>
            </a:r>
          </a:p>
          <a:p>
            <a:r>
              <a:rPr lang="zh-CN" altLang="zh-CN" sz="1600" dirty="0"/>
              <a:t>            Extension: server_name (len=24) name=tls-v1-2.badssl.com</a:t>
            </a:r>
          </a:p>
          <a:p>
            <a:r>
              <a:rPr lang="zh-CN" altLang="zh-CN" sz="1600" dirty="0"/>
              <a:t>            Extension: ec_point_formats (len=4)</a:t>
            </a:r>
          </a:p>
          <a:p>
            <a:r>
              <a:rPr lang="zh-CN" altLang="zh-CN" sz="1600" dirty="0"/>
              <a:t>            Extension: supported_groups (len=12)</a:t>
            </a:r>
          </a:p>
          <a:p>
            <a:r>
              <a:rPr lang="zh-CN" altLang="zh-CN" sz="1600" dirty="0"/>
              <a:t>            Extension: session_ticket (len=192)</a:t>
            </a:r>
          </a:p>
          <a:p>
            <a:r>
              <a:rPr lang="zh-CN" altLang="zh-CN" sz="1600" dirty="0"/>
              <a:t>            Extension: encrypt_then_mac (len=0)</a:t>
            </a:r>
          </a:p>
          <a:p>
            <a:r>
              <a:rPr lang="zh-CN" altLang="zh-CN" sz="1600" dirty="0"/>
              <a:t>            Extension: extended_master_secret (len=0)</a:t>
            </a:r>
          </a:p>
          <a:p>
            <a:r>
              <a:rPr lang="zh-CN" altLang="zh-CN" sz="1600" dirty="0"/>
              <a:t>            Extension: signature_algorithms (len=48)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93CE78-70F0-4185-B2CA-1835C8D0735E}"/>
              </a:ext>
            </a:extLst>
          </p:cNvPr>
          <p:cNvSpPr txBox="1"/>
          <p:nvPr/>
        </p:nvSpPr>
        <p:spPr>
          <a:xfrm>
            <a:off x="4076757" y="3413679"/>
            <a:ext cx="4247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rgbClr val="0070C0"/>
                </a:solidFill>
              </a:rPr>
              <a:t>Session ID 非空，Session Ticket 也非空，结合握手流程明显缩短，可以判断本次连接发生了会话恢复</a:t>
            </a:r>
            <a:endParaRPr lang="zh-CN" altLang="en-US" sz="1400" dirty="0">
              <a:solidFill>
                <a:srgbClr val="0070C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9368A0-9317-1700-69AC-8AF119FA8220}"/>
              </a:ext>
            </a:extLst>
          </p:cNvPr>
          <p:cNvSpPr txBox="1"/>
          <p:nvPr/>
        </p:nvSpPr>
        <p:spPr>
          <a:xfrm>
            <a:off x="3777417" y="5382961"/>
            <a:ext cx="5086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</a:rPr>
              <a:t>Session Ticket</a:t>
            </a:r>
            <a:r>
              <a:rPr lang="zh-CN" altLang="en-US" sz="1400" dirty="0">
                <a:solidFill>
                  <a:srgbClr val="0070C0"/>
                </a:solidFill>
              </a:rPr>
              <a:t>非空，与建立会话时服务器给的</a:t>
            </a:r>
            <a:r>
              <a:rPr lang="en-US" altLang="zh-CN" sz="1400" dirty="0">
                <a:solidFill>
                  <a:srgbClr val="0070C0"/>
                </a:solidFill>
              </a:rPr>
              <a:t>Session Ticket</a:t>
            </a:r>
            <a:r>
              <a:rPr lang="zh-CN" altLang="en-US" sz="1400" dirty="0">
                <a:solidFill>
                  <a:srgbClr val="0070C0"/>
                </a:solidFill>
              </a:rPr>
              <a:t>相同</a:t>
            </a:r>
          </a:p>
        </p:txBody>
      </p:sp>
    </p:spTree>
    <p:extLst>
      <p:ext uri="{BB962C8B-B14F-4D97-AF65-F5344CB8AC3E}">
        <p14:creationId xmlns:p14="http://schemas.microsoft.com/office/powerpoint/2010/main" val="39822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1578D8-6F21-78D5-150C-9F046C5974A0}"/>
              </a:ext>
            </a:extLst>
          </p:cNvPr>
          <p:cNvSpPr txBox="1"/>
          <p:nvPr/>
        </p:nvSpPr>
        <p:spPr>
          <a:xfrm>
            <a:off x="0" y="0"/>
            <a:ext cx="7161769" cy="7048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solidFill>
                  <a:srgbClr val="FF0000"/>
                </a:solidFill>
              </a:rPr>
              <a:t>Server Hello, Change Cipher Spec, Encrypted Handshake Message</a:t>
            </a:r>
          </a:p>
          <a:p>
            <a:r>
              <a:rPr lang="zh-CN" altLang="zh-CN" sz="1400" dirty="0"/>
              <a:t>Transport Layer Security</a:t>
            </a:r>
          </a:p>
          <a:p>
            <a:r>
              <a:rPr lang="zh-CN" altLang="zh-CN" sz="1400" dirty="0"/>
              <a:t>    [Stream index: 64]</a:t>
            </a:r>
          </a:p>
          <a:p>
            <a:r>
              <a:rPr lang="zh-CN" altLang="zh-CN" sz="1400" dirty="0"/>
              <a:t>    TLSv1.2 Record Layer: Handshake Protocol: Server Hello</a:t>
            </a:r>
          </a:p>
          <a:p>
            <a:r>
              <a:rPr lang="zh-CN" altLang="zh-CN" sz="1400" dirty="0"/>
              <a:t>        Content Type: Handshake (22)</a:t>
            </a:r>
          </a:p>
          <a:p>
            <a:r>
              <a:rPr lang="zh-CN" altLang="zh-CN" sz="1400" dirty="0"/>
              <a:t>        Version: TLS 1.2 (0x0303)</a:t>
            </a:r>
          </a:p>
          <a:p>
            <a:r>
              <a:rPr lang="zh-CN" altLang="zh-CN" sz="1400" dirty="0"/>
              <a:t>        Length: 81</a:t>
            </a:r>
          </a:p>
          <a:p>
            <a:r>
              <a:rPr lang="zh-CN" altLang="zh-CN" sz="1400" dirty="0"/>
              <a:t>        Handshake Protocol: Server Hello</a:t>
            </a:r>
          </a:p>
          <a:p>
            <a:r>
              <a:rPr lang="zh-CN" altLang="zh-CN" sz="1400" dirty="0"/>
              <a:t>            Handshake Type: Server Hello (2)</a:t>
            </a:r>
          </a:p>
          <a:p>
            <a:r>
              <a:rPr lang="zh-CN" altLang="zh-CN" sz="1400" dirty="0"/>
              <a:t>            Length: 77</a:t>
            </a:r>
          </a:p>
          <a:p>
            <a:r>
              <a:rPr lang="zh-CN" altLang="zh-CN" sz="1400" dirty="0"/>
              <a:t>            Version: TLS 1.2 (0x0303)</a:t>
            </a:r>
          </a:p>
          <a:p>
            <a:r>
              <a:rPr lang="zh-CN" altLang="zh-CN" sz="1400" dirty="0"/>
              <a:t>            Random: f546dffa6d3a0cb1abcd616e294c4ef406a305d554d62a3164e9c15324b2a372</a:t>
            </a:r>
          </a:p>
          <a:p>
            <a:r>
              <a:rPr lang="zh-CN" altLang="zh-CN" sz="1400" dirty="0"/>
              <a:t>            Session ID Length: 32</a:t>
            </a:r>
          </a:p>
          <a:p>
            <a:r>
              <a:rPr lang="zh-CN" altLang="zh-CN" sz="1400" dirty="0"/>
              <a:t>            Session ID: 85c332e37eae0728f4949d7e57e205ddb9d01590a8ec0ec9dfc4fb03011633e3</a:t>
            </a:r>
          </a:p>
          <a:p>
            <a:r>
              <a:rPr lang="zh-CN" altLang="zh-CN" sz="1400" dirty="0"/>
              <a:t>            Cipher Suite: TLS_ECDHE_RSA_WITH_AES_256_GCM_SHA384 (0xc030)</a:t>
            </a:r>
          </a:p>
          <a:p>
            <a:r>
              <a:rPr lang="zh-CN" altLang="zh-CN" sz="1400" dirty="0"/>
              <a:t>            Compression Method: null (0)</a:t>
            </a:r>
          </a:p>
          <a:p>
            <a:r>
              <a:rPr lang="zh-CN" altLang="zh-CN" sz="1400" dirty="0"/>
              <a:t>            Extensions Length: 5</a:t>
            </a:r>
          </a:p>
          <a:p>
            <a:r>
              <a:rPr lang="zh-CN" altLang="zh-CN" sz="1400" dirty="0"/>
              <a:t>            Extension: renegotiation_info (len=1)</a:t>
            </a:r>
          </a:p>
          <a:p>
            <a:r>
              <a:rPr lang="zh-CN" altLang="zh-CN" sz="1400" dirty="0"/>
              <a:t>                Type: renegotiation_info (65281)</a:t>
            </a:r>
          </a:p>
          <a:p>
            <a:r>
              <a:rPr lang="zh-CN" altLang="zh-CN" sz="1400" dirty="0"/>
              <a:t>                Length: 1</a:t>
            </a:r>
          </a:p>
          <a:p>
            <a:r>
              <a:rPr lang="zh-CN" altLang="zh-CN" sz="1400" dirty="0"/>
              <a:t>                Renegotiation Info extension</a:t>
            </a:r>
          </a:p>
          <a:p>
            <a:r>
              <a:rPr lang="zh-CN" altLang="zh-CN" sz="1400" dirty="0"/>
              <a:t>    TLSv1.2 Record Layer: Change Cipher Spec Protocol: Change Cipher Spec</a:t>
            </a:r>
          </a:p>
          <a:p>
            <a:r>
              <a:rPr lang="zh-CN" altLang="zh-CN" sz="1400" dirty="0"/>
              <a:t>        Content Type: Change Cipher Spec (20)</a:t>
            </a:r>
          </a:p>
          <a:p>
            <a:r>
              <a:rPr lang="zh-CN" altLang="zh-CN" sz="1400" dirty="0"/>
              <a:t>        Version: TLS 1.2 (0x0303)</a:t>
            </a:r>
          </a:p>
          <a:p>
            <a:r>
              <a:rPr lang="zh-CN" altLang="zh-CN" sz="1400" dirty="0"/>
              <a:t>        Length: 1</a:t>
            </a:r>
          </a:p>
          <a:p>
            <a:r>
              <a:rPr lang="zh-CN" altLang="zh-CN" sz="1400" dirty="0"/>
              <a:t>        Change Cipher Spec Message</a:t>
            </a:r>
          </a:p>
          <a:p>
            <a:r>
              <a:rPr lang="zh-CN" altLang="zh-CN" sz="1400" dirty="0"/>
              <a:t>    TLSv1.2 Record Layer: Handshake Protocol: Encrypted Handshake Message</a:t>
            </a:r>
          </a:p>
          <a:p>
            <a:r>
              <a:rPr lang="zh-CN" altLang="zh-CN" sz="1400" dirty="0"/>
              <a:t>        Content Type: Handshake (22)</a:t>
            </a:r>
          </a:p>
          <a:p>
            <a:r>
              <a:rPr lang="zh-CN" altLang="zh-CN" sz="1400" dirty="0"/>
              <a:t>        Version: TLS 1.2 (0x0303)</a:t>
            </a:r>
          </a:p>
          <a:p>
            <a:r>
              <a:rPr lang="zh-CN" altLang="zh-CN" sz="1400" dirty="0"/>
              <a:t>        Length: 40</a:t>
            </a:r>
          </a:p>
          <a:p>
            <a:r>
              <a:rPr lang="zh-CN" altLang="zh-CN" sz="1400" dirty="0"/>
              <a:t>        Handshake Protocol: Encrypted Handshake Message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5E4B4A-E10E-0B19-90E6-9D1B330CA5BB}"/>
              </a:ext>
            </a:extLst>
          </p:cNvPr>
          <p:cNvSpPr txBox="1"/>
          <p:nvPr/>
        </p:nvSpPr>
        <p:spPr>
          <a:xfrm>
            <a:off x="3373821" y="405235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标志重新连接</a:t>
            </a:r>
          </a:p>
        </p:txBody>
      </p:sp>
    </p:spTree>
    <p:extLst>
      <p:ext uri="{BB962C8B-B14F-4D97-AF65-F5344CB8AC3E}">
        <p14:creationId xmlns:p14="http://schemas.microsoft.com/office/powerpoint/2010/main" val="313230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C2993D-3EE2-76C1-C08D-ABD4D08E0E49}"/>
              </a:ext>
            </a:extLst>
          </p:cNvPr>
          <p:cNvSpPr txBox="1"/>
          <p:nvPr/>
        </p:nvSpPr>
        <p:spPr>
          <a:xfrm>
            <a:off x="0" y="0"/>
            <a:ext cx="737958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Change Cipher Spec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Encrypted Handshake Message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zh-CN" altLang="zh-CN" dirty="0"/>
              <a:t>Transport Layer Security</a:t>
            </a:r>
          </a:p>
          <a:p>
            <a:r>
              <a:rPr lang="zh-CN" altLang="zh-CN" dirty="0"/>
              <a:t>    [Stream index: 64]</a:t>
            </a:r>
          </a:p>
          <a:p>
            <a:r>
              <a:rPr lang="zh-CN" altLang="zh-CN" dirty="0"/>
              <a:t>    TLSv1.2 Record Layer: Change Cipher Spec Protocol: Change Cipher Spec</a:t>
            </a:r>
          </a:p>
          <a:p>
            <a:r>
              <a:rPr lang="zh-CN" altLang="zh-CN" dirty="0"/>
              <a:t>        Content Type: Change Cipher Spec (20)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1</a:t>
            </a:r>
          </a:p>
          <a:p>
            <a:r>
              <a:rPr lang="zh-CN" altLang="zh-CN" dirty="0"/>
              <a:t>        Change Cipher Spec Message</a:t>
            </a:r>
          </a:p>
          <a:p>
            <a:r>
              <a:rPr lang="zh-CN" altLang="zh-CN" dirty="0"/>
              <a:t>    TLSv1.2 Record Layer: Handshake Protocol: Encrypted Handshake Message</a:t>
            </a:r>
          </a:p>
          <a:p>
            <a:r>
              <a:rPr lang="zh-CN" altLang="zh-CN" dirty="0"/>
              <a:t>        Content Type: Handshake (22)</a:t>
            </a:r>
          </a:p>
          <a:p>
            <a:r>
              <a:rPr lang="zh-CN" altLang="zh-CN" dirty="0"/>
              <a:t>        Version: TLS 1.2 (0x0303)</a:t>
            </a:r>
          </a:p>
          <a:p>
            <a:r>
              <a:rPr lang="zh-CN" altLang="zh-CN" dirty="0"/>
              <a:t>        Length: 40</a:t>
            </a:r>
          </a:p>
          <a:p>
            <a:r>
              <a:rPr lang="zh-CN" altLang="zh-CN" dirty="0"/>
              <a:t>        Handshake Protocol: Encrypted Handshake Message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5125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4842A82-7B41-1CF0-AF62-A5EC179C8706}"/>
              </a:ext>
            </a:extLst>
          </p:cNvPr>
          <p:cNvSpPr txBox="1"/>
          <p:nvPr/>
        </p:nvSpPr>
        <p:spPr>
          <a:xfrm>
            <a:off x="502920" y="84055"/>
            <a:ext cx="813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1B4F72"/>
                </a:solidFill>
              </a:rPr>
              <a:t>TLS 1.3</a:t>
            </a:r>
            <a:endParaRPr lang="zh-CN" altLang="en-US" sz="3200" b="1" dirty="0">
              <a:solidFill>
                <a:srgbClr val="1B4F7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C23166-661D-C70E-3E87-C346DCB30D6A}"/>
              </a:ext>
            </a:extLst>
          </p:cNvPr>
          <p:cNvSpPr/>
          <p:nvPr/>
        </p:nvSpPr>
        <p:spPr>
          <a:xfrm>
            <a:off x="502920" y="763681"/>
            <a:ext cx="813816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9" descr="TLS1-3.png">
            <a:extLst>
              <a:ext uri="{FF2B5EF4-FFF2-40B4-BE49-F238E27FC236}">
                <a16:creationId xmlns:a16="http://schemas.microsoft.com/office/drawing/2014/main" id="{DAA1BDDC-1165-A921-7592-A01038198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9" y="1273481"/>
            <a:ext cx="9051342" cy="29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6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8F2D-C378-C865-6923-1DF8C713F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0D2F301-9731-5321-B6F0-4A513447139A}"/>
              </a:ext>
            </a:extLst>
          </p:cNvPr>
          <p:cNvSpPr txBox="1"/>
          <p:nvPr/>
        </p:nvSpPr>
        <p:spPr>
          <a:xfrm>
            <a:off x="497393" y="2386420"/>
            <a:ext cx="2877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1B4F72"/>
                </a:solidFill>
              </a:rPr>
              <a:t>新会话建立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CD6C09-1DEA-C06E-CD32-0F5A171DD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559" y="1125910"/>
            <a:ext cx="4988012" cy="398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91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DDBB01-96FF-A53C-26AC-07D2F99B192F}"/>
              </a:ext>
            </a:extLst>
          </p:cNvPr>
          <p:cNvSpPr txBox="1"/>
          <p:nvPr/>
        </p:nvSpPr>
        <p:spPr>
          <a:xfrm>
            <a:off x="0" y="-69367"/>
            <a:ext cx="9144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rgbClr val="FF0000"/>
                </a:solidFill>
              </a:rPr>
              <a:t>Client Hello</a:t>
            </a:r>
          </a:p>
          <a:p>
            <a:r>
              <a:rPr lang="zh-CN" altLang="zh-CN" sz="1400" dirty="0"/>
              <a:t>Transport Layer Security</a:t>
            </a:r>
          </a:p>
          <a:p>
            <a:r>
              <a:rPr lang="zh-CN" altLang="zh-CN" sz="1400" dirty="0"/>
              <a:t>    TLSv1.3 Record Layer: Handshake Protocol: Client Hello</a:t>
            </a:r>
          </a:p>
          <a:p>
            <a:r>
              <a:rPr lang="zh-CN" altLang="zh-CN" sz="1400" dirty="0"/>
              <a:t>        Content Type: Handshake (22)</a:t>
            </a:r>
          </a:p>
          <a:p>
            <a:r>
              <a:rPr lang="zh-CN" altLang="zh-CN" sz="1400" dirty="0"/>
              <a:t>        Version: TLS 1.0 (0x0301)</a:t>
            </a:r>
          </a:p>
          <a:p>
            <a:r>
              <a:rPr lang="zh-CN" altLang="zh-CN" sz="1400" dirty="0"/>
              <a:t>        Length: 237</a:t>
            </a:r>
          </a:p>
          <a:p>
            <a:r>
              <a:rPr lang="zh-CN" altLang="zh-CN" sz="1400" dirty="0"/>
              <a:t>        Handshake Protocol: Client Hello</a:t>
            </a:r>
          </a:p>
          <a:p>
            <a:r>
              <a:rPr lang="zh-CN" altLang="zh-CN" sz="1400" dirty="0"/>
              <a:t>            Handshake Type: Client Hello (1)</a:t>
            </a:r>
          </a:p>
          <a:p>
            <a:r>
              <a:rPr lang="zh-CN" altLang="zh-CN" sz="1400" dirty="0"/>
              <a:t>            Length: 233</a:t>
            </a:r>
          </a:p>
          <a:p>
            <a:r>
              <a:rPr lang="zh-CN" altLang="zh-CN" sz="1400" dirty="0"/>
              <a:t>            Version: TLS 1.2 (0x0303)</a:t>
            </a:r>
          </a:p>
          <a:p>
            <a:r>
              <a:rPr lang="zh-CN" altLang="zh-CN" sz="1400" dirty="0"/>
              <a:t>            Random: 8abffa14b5fe81f23af9e966c01152b9c18b5192ce159c95ed144aa546d2f59a</a:t>
            </a:r>
          </a:p>
          <a:p>
            <a:r>
              <a:rPr lang="zh-CN" altLang="zh-CN" sz="1400" dirty="0"/>
              <a:t>            Session ID Length: 32</a:t>
            </a:r>
          </a:p>
          <a:p>
            <a:r>
              <a:rPr lang="zh-CN" altLang="zh-CN" sz="1400" dirty="0"/>
              <a:t>            Session ID: 4433da5474a449973b2e622fb11d86b20ce05f7ce393d22b212143422cb8460c</a:t>
            </a:r>
            <a:endParaRPr lang="en-US" altLang="zh-CN" sz="1400" dirty="0"/>
          </a:p>
          <a:p>
            <a:r>
              <a:rPr lang="zh-CN" altLang="zh-CN" sz="1400" dirty="0"/>
              <a:t>            Cipher Suites Length: 8</a:t>
            </a:r>
          </a:p>
          <a:p>
            <a:r>
              <a:rPr lang="zh-CN" altLang="zh-CN" sz="1400" dirty="0"/>
              <a:t>            Cipher Suites (4 suites)</a:t>
            </a:r>
          </a:p>
          <a:p>
            <a:r>
              <a:rPr lang="zh-CN" altLang="zh-CN" sz="1400" dirty="0"/>
              <a:t>            Compression Methods Length: 1</a:t>
            </a:r>
          </a:p>
          <a:p>
            <a:r>
              <a:rPr lang="zh-CN" altLang="zh-CN" sz="1400" dirty="0"/>
              <a:t>            Compression Methods (1 method)</a:t>
            </a:r>
            <a:endParaRPr lang="en-US" altLang="zh-CN" sz="1400" dirty="0"/>
          </a:p>
          <a:p>
            <a:r>
              <a:rPr lang="en-US" altLang="zh-CN" sz="1400" dirty="0"/>
              <a:t>	</a:t>
            </a:r>
            <a:r>
              <a:rPr lang="zh-CN" altLang="zh-CN" sz="1400" dirty="0"/>
              <a:t>Extensions Length: 152</a:t>
            </a:r>
          </a:p>
          <a:p>
            <a:r>
              <a:rPr lang="zh-CN" altLang="zh-CN" sz="1400" dirty="0"/>
              <a:t>           </a:t>
            </a:r>
            <a:r>
              <a:rPr lang="en-US" altLang="zh-CN" sz="1400" dirty="0"/>
              <a:t>	</a:t>
            </a:r>
            <a:r>
              <a:rPr lang="zh-CN" altLang="zh-CN" sz="1400" dirty="0"/>
              <a:t>Extension: server_name (len=23) name=www.cloudflare.com</a:t>
            </a:r>
          </a:p>
          <a:p>
            <a:r>
              <a:rPr lang="zh-CN" altLang="zh-CN" sz="1400" dirty="0"/>
              <a:t>                </a:t>
            </a:r>
            <a:r>
              <a:rPr lang="en-US" altLang="zh-CN" sz="1400" dirty="0"/>
              <a:t>	</a:t>
            </a:r>
            <a:r>
              <a:rPr lang="zh-CN" altLang="zh-CN" sz="1400" dirty="0"/>
              <a:t>Type: server_name (0)</a:t>
            </a:r>
          </a:p>
          <a:p>
            <a:r>
              <a:rPr lang="zh-CN" altLang="zh-CN" sz="1400" dirty="0"/>
              <a:t>                </a:t>
            </a:r>
            <a:r>
              <a:rPr lang="en-US" altLang="zh-CN" sz="1400" dirty="0"/>
              <a:t>	</a:t>
            </a:r>
            <a:r>
              <a:rPr lang="zh-CN" altLang="zh-CN" sz="1400" dirty="0"/>
              <a:t>Length: 23</a:t>
            </a:r>
          </a:p>
          <a:p>
            <a:r>
              <a:rPr lang="zh-CN" altLang="zh-CN" sz="1400" dirty="0"/>
              <a:t>               </a:t>
            </a:r>
            <a:r>
              <a:rPr lang="en-US" altLang="zh-CN" sz="1400" dirty="0"/>
              <a:t>	</a:t>
            </a:r>
            <a:r>
              <a:rPr lang="zh-CN" altLang="zh-CN" sz="1400" dirty="0"/>
              <a:t>Server Name Indication extension</a:t>
            </a:r>
          </a:p>
          <a:p>
            <a:r>
              <a:rPr lang="zh-CN" altLang="zh-CN" sz="1400" dirty="0"/>
              <a:t>            Extension: ec_point_formats (len=4)</a:t>
            </a:r>
          </a:p>
          <a:p>
            <a:r>
              <a:rPr lang="zh-CN" altLang="zh-CN" sz="1400" dirty="0"/>
              <a:t>                </a:t>
            </a:r>
            <a:r>
              <a:rPr lang="en-US" altLang="zh-CN" sz="1400" dirty="0"/>
              <a:t>	</a:t>
            </a:r>
            <a:r>
              <a:rPr lang="zh-CN" altLang="zh-CN" sz="1400" dirty="0"/>
              <a:t>Type: ec_point_formats (11)</a:t>
            </a:r>
          </a:p>
          <a:p>
            <a:r>
              <a:rPr lang="zh-CN" altLang="zh-CN" sz="1400" dirty="0"/>
              <a:t>                </a:t>
            </a:r>
            <a:r>
              <a:rPr lang="en-US" altLang="zh-CN" sz="1400" dirty="0"/>
              <a:t>	</a:t>
            </a:r>
            <a:r>
              <a:rPr lang="zh-CN" altLang="zh-CN" sz="1400" dirty="0"/>
              <a:t>Length: 4</a:t>
            </a:r>
          </a:p>
          <a:p>
            <a:r>
              <a:rPr lang="zh-CN" altLang="zh-CN" sz="1400" dirty="0"/>
              <a:t>                </a:t>
            </a:r>
            <a:r>
              <a:rPr lang="en-US" altLang="zh-CN" sz="1400" dirty="0"/>
              <a:t>	</a:t>
            </a:r>
            <a:r>
              <a:rPr lang="zh-CN" altLang="zh-CN" sz="1400" dirty="0"/>
              <a:t>EC point formats Length: 3</a:t>
            </a:r>
          </a:p>
          <a:p>
            <a:r>
              <a:rPr lang="zh-CN" altLang="zh-CN" sz="1400" dirty="0"/>
              <a:t>                </a:t>
            </a:r>
            <a:r>
              <a:rPr lang="en-US" altLang="zh-CN" sz="1400" dirty="0"/>
              <a:t>	</a:t>
            </a:r>
            <a:r>
              <a:rPr lang="zh-CN" altLang="zh-CN" sz="1400" dirty="0"/>
              <a:t>Elliptic curves point formats (3)</a:t>
            </a:r>
          </a:p>
          <a:p>
            <a:r>
              <a:rPr lang="zh-CN" altLang="zh-CN" sz="1400" dirty="0"/>
              <a:t>            Extension: supported_groups (len=12)</a:t>
            </a:r>
          </a:p>
          <a:p>
            <a:r>
              <a:rPr lang="zh-CN" altLang="zh-CN" sz="1400" dirty="0"/>
              <a:t>                Type: supported_groups (10)</a:t>
            </a:r>
          </a:p>
          <a:p>
            <a:r>
              <a:rPr lang="zh-CN" altLang="zh-CN" sz="1400" dirty="0"/>
              <a:t>                Length: 12</a:t>
            </a:r>
          </a:p>
          <a:p>
            <a:r>
              <a:rPr lang="zh-CN" altLang="zh-CN" sz="1400" dirty="0"/>
              <a:t>                Supported Groups List Length: 10</a:t>
            </a:r>
          </a:p>
          <a:p>
            <a:r>
              <a:rPr lang="zh-CN" altLang="zh-CN" sz="1400" dirty="0"/>
              <a:t>                Supported Groups (5 groups)</a:t>
            </a:r>
          </a:p>
          <a:p>
            <a:endParaRPr lang="zh-CN" altLang="zh-CN" dirty="0"/>
          </a:p>
          <a:p>
            <a:r>
              <a:rPr lang="zh-CN" altLang="zh-CN" dirty="0"/>
              <a:t>          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B29B48-3D0A-98CE-B13E-B33868C69957}"/>
              </a:ext>
            </a:extLst>
          </p:cNvPr>
          <p:cNvSpPr txBox="1"/>
          <p:nvPr/>
        </p:nvSpPr>
        <p:spPr>
          <a:xfrm>
            <a:off x="2446809" y="1866637"/>
            <a:ext cx="5339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为了兼容</a:t>
            </a:r>
            <a:r>
              <a:rPr lang="en-US" altLang="zh-CN" sz="1400" dirty="0">
                <a:solidFill>
                  <a:srgbClr val="0070C0"/>
                </a:solidFill>
              </a:rPr>
              <a:t>TLS 1.2</a:t>
            </a:r>
            <a:r>
              <a:rPr lang="zh-CN" altLang="en-US" sz="1400" dirty="0">
                <a:solidFill>
                  <a:srgbClr val="0070C0"/>
                </a:solidFill>
              </a:rPr>
              <a:t>包版本格式的遗留产物，</a:t>
            </a:r>
            <a:r>
              <a:rPr lang="en-US" altLang="zh-CN" sz="1400" dirty="0">
                <a:solidFill>
                  <a:srgbClr val="0070C0"/>
                </a:solidFill>
              </a:rPr>
              <a:t>TLS 1.3</a:t>
            </a:r>
            <a:r>
              <a:rPr lang="zh-CN" altLang="en-US" sz="1400" dirty="0">
                <a:solidFill>
                  <a:srgbClr val="0070C0"/>
                </a:solidFill>
              </a:rPr>
              <a:t>写在后续的扩展里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89C2AF-036F-E481-3CCE-18A195D18D68}"/>
              </a:ext>
            </a:extLst>
          </p:cNvPr>
          <p:cNvSpPr txBox="1"/>
          <p:nvPr/>
        </p:nvSpPr>
        <p:spPr>
          <a:xfrm>
            <a:off x="4862383" y="2692860"/>
            <a:ext cx="40775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兼容旧实现的产物，</a:t>
            </a:r>
            <a:r>
              <a:rPr lang="en-US" altLang="zh-CN" sz="1400" dirty="0">
                <a:solidFill>
                  <a:srgbClr val="0070C0"/>
                </a:solidFill>
              </a:rPr>
              <a:t>TLS 1.3</a:t>
            </a:r>
            <a:r>
              <a:rPr lang="zh-CN" altLang="en-US" sz="1400" dirty="0">
                <a:solidFill>
                  <a:srgbClr val="0070C0"/>
                </a:solidFill>
              </a:rPr>
              <a:t>不再需要</a:t>
            </a:r>
            <a:r>
              <a:rPr lang="en-US" altLang="zh-CN" sz="1400" dirty="0">
                <a:solidFill>
                  <a:srgbClr val="0070C0"/>
                </a:solidFill>
              </a:rPr>
              <a:t>Session ID</a:t>
            </a:r>
            <a:r>
              <a:rPr lang="zh-CN" altLang="en-US" sz="1400" dirty="0">
                <a:solidFill>
                  <a:srgbClr val="0070C0"/>
                </a:solidFill>
              </a:rPr>
              <a:t>进行会话恢复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980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86F25A4-A7DD-248F-F8E1-CC762A0BADE5}"/>
              </a:ext>
            </a:extLst>
          </p:cNvPr>
          <p:cNvSpPr txBox="1"/>
          <p:nvPr/>
        </p:nvSpPr>
        <p:spPr>
          <a:xfrm>
            <a:off x="0" y="0"/>
            <a:ext cx="863004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            Extension: session_ticket (len=0)</a:t>
            </a:r>
          </a:p>
          <a:p>
            <a:r>
              <a:rPr lang="zh-CN" altLang="zh-CN" sz="1400" dirty="0"/>
              <a:t>                Type: session_ticket (35)</a:t>
            </a:r>
          </a:p>
          <a:p>
            <a:r>
              <a:rPr lang="zh-CN" altLang="zh-CN" sz="1400" dirty="0"/>
              <a:t>                Length: 0</a:t>
            </a:r>
          </a:p>
          <a:p>
            <a:r>
              <a:rPr lang="zh-CN" altLang="zh-CN" sz="1400" dirty="0"/>
              <a:t>                Session Ticket: &lt;MISSING&gt;</a:t>
            </a:r>
          </a:p>
          <a:p>
            <a:r>
              <a:rPr lang="zh-CN" altLang="zh-CN" sz="1400" dirty="0"/>
              <a:t>            Extension: encrypt_then_mac (len=0)</a:t>
            </a:r>
          </a:p>
          <a:p>
            <a:r>
              <a:rPr lang="zh-CN" altLang="zh-CN" sz="1400" dirty="0"/>
              <a:t>                Type: encrypt_then_mac (22)</a:t>
            </a:r>
          </a:p>
          <a:p>
            <a:r>
              <a:rPr lang="zh-CN" altLang="zh-CN" sz="1400" dirty="0"/>
              <a:t>                Length: 0</a:t>
            </a:r>
          </a:p>
          <a:p>
            <a:r>
              <a:rPr lang="zh-CN" altLang="zh-CN" sz="1400" dirty="0"/>
              <a:t>            Extension: extended_master_secret (len=0)</a:t>
            </a:r>
          </a:p>
          <a:p>
            <a:r>
              <a:rPr lang="zh-CN" altLang="zh-CN" sz="1400" dirty="0"/>
              <a:t>                Type: extended_master_secret (23)</a:t>
            </a:r>
          </a:p>
          <a:p>
            <a:r>
              <a:rPr lang="zh-CN" altLang="zh-CN" sz="1400" dirty="0"/>
              <a:t>                Length: 0</a:t>
            </a:r>
          </a:p>
          <a:p>
            <a:r>
              <a:rPr lang="zh-CN" altLang="zh-CN" sz="1400" dirty="0"/>
              <a:t>            Extension: signature_algorithms (len=30)</a:t>
            </a:r>
          </a:p>
          <a:p>
            <a:r>
              <a:rPr lang="zh-CN" altLang="zh-CN" sz="1400" dirty="0"/>
              <a:t>                Type: signature_algorithms (13)</a:t>
            </a:r>
          </a:p>
          <a:p>
            <a:r>
              <a:rPr lang="zh-CN" altLang="zh-CN" sz="1400" dirty="0"/>
              <a:t>                Length: 30</a:t>
            </a:r>
          </a:p>
          <a:p>
            <a:r>
              <a:rPr lang="zh-CN" altLang="zh-CN" sz="1400" dirty="0"/>
              <a:t>                Signature Hash Algorithms Length: 28</a:t>
            </a:r>
          </a:p>
          <a:p>
            <a:r>
              <a:rPr lang="zh-CN" altLang="zh-CN" sz="1400" dirty="0"/>
              <a:t>                Signature Hash Algorithms (14 algorithms)</a:t>
            </a:r>
          </a:p>
          <a:p>
            <a:r>
              <a:rPr lang="zh-CN" altLang="zh-CN" sz="1400" dirty="0"/>
              <a:t>            Extension: supported_versions (len=3) TLS 1.3</a:t>
            </a:r>
          </a:p>
          <a:p>
            <a:r>
              <a:rPr lang="zh-CN" altLang="zh-CN" sz="1400" dirty="0"/>
              <a:t>                Type: supported_versions (43)</a:t>
            </a:r>
          </a:p>
          <a:p>
            <a:r>
              <a:rPr lang="zh-CN" altLang="zh-CN" sz="1400" dirty="0"/>
              <a:t>                Length: 3</a:t>
            </a:r>
          </a:p>
          <a:p>
            <a:r>
              <a:rPr lang="zh-CN" altLang="zh-CN" sz="1400" dirty="0"/>
              <a:t>                Supported Versions length: 2</a:t>
            </a:r>
          </a:p>
          <a:p>
            <a:r>
              <a:rPr lang="zh-CN" altLang="zh-CN" sz="1400" dirty="0"/>
              <a:t>                Supported Version: TLS 1.3 (0x0304)</a:t>
            </a:r>
          </a:p>
          <a:p>
            <a:r>
              <a:rPr lang="zh-CN" altLang="zh-CN" sz="1400" dirty="0"/>
              <a:t>            Extension: psk_key_exchange_modes (len=2)</a:t>
            </a:r>
          </a:p>
          <a:p>
            <a:r>
              <a:rPr lang="zh-CN" altLang="zh-CN" sz="1400" dirty="0"/>
              <a:t>                Type: psk_key_exchange_modes (45)</a:t>
            </a:r>
          </a:p>
          <a:p>
            <a:r>
              <a:rPr lang="zh-CN" altLang="zh-CN" sz="1400" dirty="0"/>
              <a:t>                Length: 2</a:t>
            </a:r>
          </a:p>
          <a:p>
            <a:r>
              <a:rPr lang="zh-CN" altLang="zh-CN" sz="1400" dirty="0"/>
              <a:t>                PSK Key Exchange Modes Length: 1</a:t>
            </a:r>
          </a:p>
          <a:p>
            <a:r>
              <a:rPr lang="zh-CN" altLang="zh-CN" sz="1400" dirty="0"/>
              <a:t>                PSK Key Exchange Mode: PSK with (EC)</a:t>
            </a:r>
            <a:endParaRPr lang="en-US" altLang="zh-CN" sz="1400" dirty="0"/>
          </a:p>
          <a:p>
            <a:r>
              <a:rPr lang="en-US" altLang="zh-CN" sz="1400" dirty="0"/>
              <a:t>	    </a:t>
            </a:r>
            <a:r>
              <a:rPr lang="zh-CN" altLang="zh-CN" sz="1400" dirty="0"/>
              <a:t>DHE key establishment (psk_dhe_ke) (1)</a:t>
            </a:r>
          </a:p>
          <a:p>
            <a:r>
              <a:rPr lang="zh-CN" altLang="zh-CN" sz="1400" dirty="0"/>
              <a:t>            Extension: key_share (len=38) x25519</a:t>
            </a:r>
          </a:p>
          <a:p>
            <a:r>
              <a:rPr lang="zh-CN" altLang="zh-CN" sz="1400" dirty="0"/>
              <a:t>                Type: key_share (51)</a:t>
            </a:r>
          </a:p>
          <a:p>
            <a:r>
              <a:rPr lang="zh-CN" altLang="zh-CN" sz="1400" dirty="0"/>
              <a:t>                Length: 38</a:t>
            </a:r>
          </a:p>
          <a:p>
            <a:r>
              <a:rPr lang="zh-CN" altLang="zh-CN" sz="1400" dirty="0"/>
              <a:t>                Key Share extension</a:t>
            </a:r>
            <a:endParaRPr lang="zh-CN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981938-517D-CACA-45CA-FBE29C72F7E2}"/>
              </a:ext>
            </a:extLst>
          </p:cNvPr>
          <p:cNvSpPr txBox="1"/>
          <p:nvPr/>
        </p:nvSpPr>
        <p:spPr>
          <a:xfrm>
            <a:off x="3676518" y="3626069"/>
            <a:ext cx="3023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客户端列出自己真正支持的 </a:t>
            </a:r>
            <a:r>
              <a:rPr lang="en-US" altLang="zh-CN" sz="1400" dirty="0">
                <a:solidFill>
                  <a:srgbClr val="0070C0"/>
                </a:solidFill>
              </a:rPr>
              <a:t>TLS </a:t>
            </a:r>
            <a:r>
              <a:rPr lang="zh-CN" altLang="en-US" sz="1400" dirty="0">
                <a:solidFill>
                  <a:srgbClr val="0070C0"/>
                </a:solidFill>
              </a:rPr>
              <a:t>版本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F7E279-067B-07DA-8CAD-1D68FC31354C}"/>
              </a:ext>
            </a:extLst>
          </p:cNvPr>
          <p:cNvSpPr txBox="1"/>
          <p:nvPr/>
        </p:nvSpPr>
        <p:spPr>
          <a:xfrm>
            <a:off x="3966604" y="4413034"/>
            <a:ext cx="5234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rgbClr val="0070C0"/>
                </a:solidFill>
              </a:rPr>
              <a:t>psk_dhe_ke 表示“PSK 恢复 + 再做一次 (EC)DHE”，从而恢复连接时仍获得新的密钥材料和前向安全性；psk_ke 也不是“直接拿老主密钥原样继续加密”，而是基于 PSK 重新派生本次连接的密钥，只是缺少新的 DHE 前向安全性。</a:t>
            </a:r>
            <a:endParaRPr lang="zh-CN" altLang="en-US" sz="1400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857432-7C89-72FA-1297-E5A00182E36A}"/>
              </a:ext>
            </a:extLst>
          </p:cNvPr>
          <p:cNvSpPr txBox="1"/>
          <p:nvPr/>
        </p:nvSpPr>
        <p:spPr>
          <a:xfrm>
            <a:off x="3518864" y="5683711"/>
            <a:ext cx="43140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solidFill>
                  <a:srgbClr val="0070C0"/>
                </a:solidFill>
              </a:rPr>
              <a:t>直接把密钥交换的公钥发出而不是再等待第二个来回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2745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33FC72-02C9-6838-7A0E-3CC3E5269247}"/>
              </a:ext>
            </a:extLst>
          </p:cNvPr>
          <p:cNvSpPr txBox="1"/>
          <p:nvPr/>
        </p:nvSpPr>
        <p:spPr>
          <a:xfrm>
            <a:off x="0" y="-25225"/>
            <a:ext cx="7213834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solidFill>
                  <a:srgbClr val="FF0000"/>
                </a:solidFill>
              </a:rPr>
              <a:t>Server Hello, Change Cipher Spec</a:t>
            </a:r>
          </a:p>
          <a:p>
            <a:r>
              <a:rPr lang="zh-CN" altLang="zh-CN" sz="1400" dirty="0"/>
              <a:t>Transport Layer Security</a:t>
            </a:r>
          </a:p>
          <a:p>
            <a:r>
              <a:rPr lang="zh-CN" altLang="zh-CN" sz="1400" dirty="0"/>
              <a:t>    [Stream index: 19]</a:t>
            </a:r>
          </a:p>
          <a:p>
            <a:r>
              <a:rPr lang="zh-CN" altLang="zh-CN" sz="1400" dirty="0"/>
              <a:t>    TLSv1.3 Record Layer: Handshake Protocol: Server Hello</a:t>
            </a:r>
          </a:p>
          <a:p>
            <a:r>
              <a:rPr lang="zh-CN" altLang="zh-CN" sz="1400" dirty="0"/>
              <a:t>        Content Type: Handshake (22)</a:t>
            </a:r>
          </a:p>
          <a:p>
            <a:r>
              <a:rPr lang="zh-CN" altLang="zh-CN" sz="1400" dirty="0"/>
              <a:t>        Version: TLS 1.2 (0x0303)</a:t>
            </a:r>
          </a:p>
          <a:p>
            <a:r>
              <a:rPr lang="zh-CN" altLang="zh-CN" sz="1400" dirty="0"/>
              <a:t>        Length: 122</a:t>
            </a:r>
          </a:p>
          <a:p>
            <a:r>
              <a:rPr lang="zh-CN" altLang="zh-CN" sz="1400" dirty="0"/>
              <a:t>        Handshake Protocol: Server Hello</a:t>
            </a:r>
          </a:p>
          <a:p>
            <a:r>
              <a:rPr lang="zh-CN" altLang="zh-CN" sz="1400" dirty="0"/>
              <a:t>            Handshake Type: Server Hello (2)</a:t>
            </a:r>
          </a:p>
          <a:p>
            <a:r>
              <a:rPr lang="zh-CN" altLang="zh-CN" sz="1400" dirty="0"/>
              <a:t>            Length: 118</a:t>
            </a:r>
          </a:p>
          <a:p>
            <a:r>
              <a:rPr lang="zh-CN" altLang="zh-CN" sz="1400" dirty="0"/>
              <a:t>            Version: TLS 1.2 (0x0303)</a:t>
            </a:r>
          </a:p>
          <a:p>
            <a:r>
              <a:rPr lang="zh-CN" altLang="zh-CN" sz="1400" dirty="0"/>
              <a:t>            Random: 8e906a8f0d0722e28ca781a98c894658c96619d508dd7e3d98dad034b7eb6dd8</a:t>
            </a:r>
          </a:p>
          <a:p>
            <a:r>
              <a:rPr lang="zh-CN" altLang="zh-CN" sz="1400" dirty="0"/>
              <a:t>            Session ID Length: 32</a:t>
            </a:r>
          </a:p>
          <a:p>
            <a:r>
              <a:rPr lang="zh-CN" altLang="zh-CN" sz="1400" dirty="0"/>
              <a:t>            Session ID: 4433da5474a449973b2e622fb11d86b20ce05f7ce393d22b212143422cb8460c</a:t>
            </a:r>
          </a:p>
          <a:p>
            <a:r>
              <a:rPr lang="zh-CN" altLang="zh-CN" sz="1400" dirty="0"/>
              <a:t>            Cipher Suite: TLS_AES_256_GCM_SHA384 (0x1302)</a:t>
            </a:r>
          </a:p>
          <a:p>
            <a:r>
              <a:rPr lang="zh-CN" altLang="zh-CN" sz="1400" dirty="0"/>
              <a:t>            Compression Method: null (0)</a:t>
            </a:r>
          </a:p>
          <a:p>
            <a:r>
              <a:rPr lang="zh-CN" altLang="zh-CN" sz="1400" dirty="0"/>
              <a:t>            Extensions Length: 46</a:t>
            </a:r>
          </a:p>
          <a:p>
            <a:r>
              <a:rPr lang="zh-CN" altLang="zh-CN" sz="1400" dirty="0"/>
              <a:t>            Extension: key_share (len=36) x25519</a:t>
            </a:r>
          </a:p>
          <a:p>
            <a:r>
              <a:rPr lang="zh-CN" altLang="zh-CN" sz="1400" dirty="0"/>
              <a:t>                Type: key_share (51)</a:t>
            </a:r>
          </a:p>
          <a:p>
            <a:r>
              <a:rPr lang="zh-CN" altLang="zh-CN" sz="1400" dirty="0"/>
              <a:t>                Length: 36</a:t>
            </a:r>
          </a:p>
          <a:p>
            <a:r>
              <a:rPr lang="zh-CN" altLang="zh-CN" sz="1400" dirty="0"/>
              <a:t>                Key Share extension</a:t>
            </a:r>
          </a:p>
          <a:p>
            <a:r>
              <a:rPr lang="zh-CN" altLang="zh-CN" sz="1400" dirty="0"/>
              <a:t>                    Key Share Entry: Group: x25519, Key Exchange length: 32  </a:t>
            </a:r>
            <a:endParaRPr lang="en-US" altLang="zh-CN" sz="1400" dirty="0"/>
          </a:p>
          <a:p>
            <a:r>
              <a:rPr lang="zh-CN" altLang="zh-CN" sz="1400" dirty="0"/>
              <a:t>            Extension: supported_versions (len=2) TLS 1.3</a:t>
            </a:r>
          </a:p>
          <a:p>
            <a:r>
              <a:rPr lang="zh-CN" altLang="zh-CN" sz="1400" dirty="0"/>
              <a:t>                Type: supported_versions (43)</a:t>
            </a:r>
          </a:p>
          <a:p>
            <a:r>
              <a:rPr lang="zh-CN" altLang="zh-CN" sz="1400" dirty="0"/>
              <a:t>                Length: 2</a:t>
            </a:r>
          </a:p>
          <a:p>
            <a:r>
              <a:rPr lang="zh-CN" altLang="zh-CN" sz="1400" dirty="0"/>
              <a:t>                Supported Version: TLS 1.3 (0x0304)</a:t>
            </a:r>
          </a:p>
          <a:p>
            <a:r>
              <a:rPr lang="zh-CN" altLang="zh-CN" sz="1400" dirty="0"/>
              <a:t>    TLSv1.3 Record Layer: Change Cipher Spec Protocol: Change Cipher Spec</a:t>
            </a:r>
          </a:p>
          <a:p>
            <a:r>
              <a:rPr lang="zh-CN" altLang="zh-CN" sz="1400" dirty="0"/>
              <a:t>        Content Type: Change Cipher Spec (20)</a:t>
            </a:r>
          </a:p>
          <a:p>
            <a:r>
              <a:rPr lang="zh-CN" altLang="zh-CN" sz="1400" dirty="0"/>
              <a:t>        Version: TLS 1.2 (0x0303)</a:t>
            </a:r>
          </a:p>
          <a:p>
            <a:r>
              <a:rPr lang="zh-CN" altLang="zh-CN" sz="1400" dirty="0"/>
              <a:t>        Length: 1</a:t>
            </a:r>
          </a:p>
          <a:p>
            <a:r>
              <a:rPr lang="zh-CN" altLang="zh-CN" sz="1400" dirty="0"/>
              <a:t>        Change Cipher Spec Message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FAB6A7-9221-CF65-C8B7-6619EC8B07A7}"/>
              </a:ext>
            </a:extLst>
          </p:cNvPr>
          <p:cNvSpPr txBox="1"/>
          <p:nvPr/>
        </p:nvSpPr>
        <p:spPr>
          <a:xfrm>
            <a:off x="2623382" y="4111647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发送服务器端的密钥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F0C125-3CC0-113F-58B4-72A364040627}"/>
              </a:ext>
            </a:extLst>
          </p:cNvPr>
          <p:cNvSpPr txBox="1"/>
          <p:nvPr/>
        </p:nvSpPr>
        <p:spPr>
          <a:xfrm>
            <a:off x="3430576" y="5076497"/>
            <a:ext cx="1686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支持连接的</a:t>
            </a:r>
            <a:r>
              <a:rPr lang="en-US" altLang="zh-CN" sz="1400" dirty="0">
                <a:solidFill>
                  <a:srgbClr val="0070C0"/>
                </a:solidFill>
              </a:rPr>
              <a:t>TLS</a:t>
            </a:r>
            <a:r>
              <a:rPr lang="zh-CN" altLang="en-US" sz="1400" dirty="0">
                <a:solidFill>
                  <a:srgbClr val="0070C0"/>
                </a:solidFill>
              </a:rPr>
              <a:t>版本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561499-21C8-1EEF-61D7-3AC273918918}"/>
              </a:ext>
            </a:extLst>
          </p:cNvPr>
          <p:cNvSpPr txBox="1"/>
          <p:nvPr/>
        </p:nvSpPr>
        <p:spPr>
          <a:xfrm>
            <a:off x="3606917" y="5795404"/>
            <a:ext cx="499207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rgbClr val="0070C0"/>
                </a:solidFill>
              </a:rPr>
              <a:t>TLS 1.3 本身已不需要再发送Change Cipher Spec, 目的依然是欺骗中间老旧设备，告诉他们握手已完成，但实际上客户端收到后必须忽略</a:t>
            </a:r>
            <a:r>
              <a:rPr lang="zh-CN" altLang="en-US" sz="1400" dirty="0">
                <a:solidFill>
                  <a:srgbClr val="0070C0"/>
                </a:solidFill>
              </a:rPr>
              <a:t>，同理，客户端也会给服务器发一个</a:t>
            </a:r>
            <a:r>
              <a:rPr lang="en-US" altLang="zh-CN" sz="1400" dirty="0">
                <a:solidFill>
                  <a:srgbClr val="0070C0"/>
                </a:solidFill>
              </a:rPr>
              <a:t>Change Cipher Spec</a:t>
            </a:r>
            <a:r>
              <a:rPr lang="zh-CN" altLang="en-US" sz="1400" dirty="0">
                <a:solidFill>
                  <a:srgbClr val="0070C0"/>
                </a:solidFill>
              </a:rPr>
              <a:t>，这里不再重复展示</a:t>
            </a:r>
            <a:endParaRPr lang="zh-CN" altLang="zh-CN" sz="1400" dirty="0">
              <a:solidFill>
                <a:srgbClr val="0070C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5809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4F9F-A26D-6636-5216-AD4CAF1ED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78DE936-BDAF-30AD-9C50-F9DDC78987BA}"/>
              </a:ext>
            </a:extLst>
          </p:cNvPr>
          <p:cNvSpPr txBox="1"/>
          <p:nvPr/>
        </p:nvSpPr>
        <p:spPr>
          <a:xfrm>
            <a:off x="497393" y="2386420"/>
            <a:ext cx="2877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1B4F72"/>
                </a:solidFill>
              </a:rPr>
              <a:t>会话恢复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D15641-DF08-A2F8-C806-529FA2EC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559" y="1125910"/>
            <a:ext cx="4988012" cy="398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04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3288A0-0AC7-8B5C-6BA1-F7BB01306E1C}"/>
              </a:ext>
            </a:extLst>
          </p:cNvPr>
          <p:cNvSpPr txBox="1"/>
          <p:nvPr/>
        </p:nvSpPr>
        <p:spPr>
          <a:xfrm>
            <a:off x="236482" y="2219785"/>
            <a:ext cx="86710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Client Hello</a:t>
            </a:r>
            <a:r>
              <a:rPr lang="zh-CN" altLang="en-US" dirty="0"/>
              <a:t>：大体结构和新会话建立相同，新增了一个扩展：</a:t>
            </a:r>
            <a:endParaRPr lang="en-US" altLang="zh-CN" dirty="0"/>
          </a:p>
          <a:p>
            <a:r>
              <a:rPr lang="zh-CN" altLang="zh-CN" dirty="0"/>
              <a:t>Extension: pre_shared_key (len=267)</a:t>
            </a:r>
          </a:p>
          <a:p>
            <a:r>
              <a:rPr lang="zh-CN" altLang="zh-CN" dirty="0"/>
              <a:t>                Type: pre_shared_key (41)</a:t>
            </a:r>
          </a:p>
          <a:p>
            <a:r>
              <a:rPr lang="zh-CN" altLang="zh-CN" dirty="0"/>
              <a:t>                Length: 267</a:t>
            </a:r>
          </a:p>
          <a:p>
            <a:r>
              <a:rPr lang="zh-CN" altLang="zh-CN" dirty="0"/>
              <a:t>                Pre-Shared Key extension</a:t>
            </a:r>
          </a:p>
          <a:p>
            <a:r>
              <a:rPr lang="zh-CN" altLang="zh-CN" dirty="0">
                <a:solidFill>
                  <a:srgbClr val="0070C0"/>
                </a:solidFill>
              </a:rPr>
              <a:t>提供身份标识和用于验证的HMAC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有几个</a:t>
            </a:r>
            <a:r>
              <a:rPr lang="en-US" altLang="zh-CN" dirty="0" err="1">
                <a:solidFill>
                  <a:srgbClr val="0070C0"/>
                </a:solidFill>
              </a:rPr>
              <a:t>psk</a:t>
            </a:r>
            <a:r>
              <a:rPr lang="zh-CN" altLang="en-US" dirty="0">
                <a:solidFill>
                  <a:srgbClr val="0070C0"/>
                </a:solidFill>
              </a:rPr>
              <a:t>，就会带上几个</a:t>
            </a:r>
            <a:r>
              <a:rPr lang="en-US" altLang="zh-CN" dirty="0" err="1">
                <a:solidFill>
                  <a:srgbClr val="0070C0"/>
                </a:solidFill>
              </a:rPr>
              <a:t>psk</a:t>
            </a:r>
            <a:r>
              <a:rPr lang="zh-CN" altLang="en-US" dirty="0">
                <a:solidFill>
                  <a:srgbClr val="0070C0"/>
                </a:solidFill>
              </a:rPr>
              <a:t>，提供给服务器选择，其中会包含</a:t>
            </a:r>
            <a:r>
              <a:rPr lang="en-US" altLang="zh-CN" dirty="0" err="1">
                <a:solidFill>
                  <a:srgbClr val="0070C0"/>
                </a:solidFill>
              </a:rPr>
              <a:t>ticket_age</a:t>
            </a:r>
            <a:r>
              <a:rPr lang="zh-CN" altLang="en-US" dirty="0">
                <a:solidFill>
                  <a:srgbClr val="0070C0"/>
                </a:solidFill>
              </a:rPr>
              <a:t>等信息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同时</a:t>
            </a:r>
            <a:r>
              <a:rPr lang="en-US" altLang="zh-CN" dirty="0" err="1">
                <a:solidFill>
                  <a:srgbClr val="0070C0"/>
                </a:solidFill>
              </a:rPr>
              <a:t>psk_key_exchange_modes</a:t>
            </a:r>
            <a:r>
              <a:rPr lang="zh-CN" altLang="en-US" dirty="0">
                <a:solidFill>
                  <a:srgbClr val="0070C0"/>
                </a:solidFill>
              </a:rPr>
              <a:t>还会重申会话恢复模式，与之前相同，仍会采用</a:t>
            </a:r>
            <a:r>
              <a:rPr lang="en-US" altLang="zh-CN" dirty="0">
                <a:solidFill>
                  <a:srgbClr val="0070C0"/>
                </a:solidFill>
              </a:rPr>
              <a:t>DHE</a:t>
            </a:r>
            <a:r>
              <a:rPr lang="zh-CN" altLang="en-US" dirty="0">
                <a:solidFill>
                  <a:srgbClr val="0070C0"/>
                </a:solidFill>
              </a:rPr>
              <a:t>会话恢复模式，双方重新发送随机数，重新建立密钥（比如这次客户端还是会带上</a:t>
            </a:r>
            <a:r>
              <a:rPr lang="en-US" altLang="zh-CN" dirty="0" err="1">
                <a:solidFill>
                  <a:srgbClr val="0070C0"/>
                </a:solidFill>
              </a:rPr>
              <a:t>key_share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  <a:endParaRPr lang="zh-CN" altLang="zh-C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327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26CF26-095B-E392-C309-DAACD48D61D9}"/>
              </a:ext>
            </a:extLst>
          </p:cNvPr>
          <p:cNvSpPr txBox="1"/>
          <p:nvPr/>
        </p:nvSpPr>
        <p:spPr>
          <a:xfrm>
            <a:off x="46594" y="12613"/>
            <a:ext cx="7076681" cy="6832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solidFill>
                  <a:srgbClr val="FF0000"/>
                </a:solidFill>
              </a:rPr>
              <a:t>Server Hello</a:t>
            </a:r>
          </a:p>
          <a:p>
            <a:r>
              <a:rPr lang="zh-CN" altLang="zh-CN" sz="1400" dirty="0"/>
              <a:t>Transport Layer Security</a:t>
            </a:r>
          </a:p>
          <a:p>
            <a:r>
              <a:rPr lang="zh-CN" altLang="zh-CN" sz="1400" dirty="0"/>
              <a:t>    TLSv1.3 Record Layer: Handshake Protocol: Server Hello</a:t>
            </a:r>
          </a:p>
          <a:p>
            <a:r>
              <a:rPr lang="zh-CN" altLang="zh-CN" sz="1400" dirty="0"/>
              <a:t>        Content Type: Handshake (22)</a:t>
            </a:r>
          </a:p>
          <a:p>
            <a:r>
              <a:rPr lang="zh-CN" altLang="zh-CN" sz="1400" dirty="0"/>
              <a:t>        Version: TLS 1.2 (0x0303)</a:t>
            </a:r>
          </a:p>
          <a:p>
            <a:r>
              <a:rPr lang="zh-CN" altLang="zh-CN" sz="1400" dirty="0"/>
              <a:t>        Length: 128</a:t>
            </a:r>
          </a:p>
          <a:p>
            <a:r>
              <a:rPr lang="zh-CN" altLang="zh-CN" sz="1400" dirty="0"/>
              <a:t>        Handshake Protocol: Server Hello</a:t>
            </a:r>
          </a:p>
          <a:p>
            <a:r>
              <a:rPr lang="zh-CN" altLang="zh-CN" sz="1400" dirty="0"/>
              <a:t>            Handshake Type: Server Hello (2)</a:t>
            </a:r>
          </a:p>
          <a:p>
            <a:r>
              <a:rPr lang="zh-CN" altLang="zh-CN" sz="1400" dirty="0"/>
              <a:t>            Length: 124</a:t>
            </a:r>
          </a:p>
          <a:p>
            <a:r>
              <a:rPr lang="zh-CN" altLang="zh-CN" sz="1400" dirty="0"/>
              <a:t>            Version: TLS 1.2 (0x0303)</a:t>
            </a:r>
          </a:p>
          <a:p>
            <a:r>
              <a:rPr lang="zh-CN" altLang="zh-CN" sz="1400" dirty="0"/>
              <a:t>            Random: 768b942c0abf538d4b0ea652952bdd52f49a256a7d31de7f76c8f73673113ee2</a:t>
            </a:r>
          </a:p>
          <a:p>
            <a:r>
              <a:rPr lang="zh-CN" altLang="zh-CN" sz="1400" dirty="0"/>
              <a:t>            Session ID Length: 32</a:t>
            </a:r>
          </a:p>
          <a:p>
            <a:r>
              <a:rPr lang="zh-CN" altLang="zh-CN" sz="1400" dirty="0"/>
              <a:t>            Session ID: 1f1b4b32af63b43247bf932f04865e122a176c985c18580cdac9c718d412f314</a:t>
            </a:r>
          </a:p>
          <a:p>
            <a:r>
              <a:rPr lang="zh-CN" altLang="zh-CN" sz="1400" dirty="0"/>
              <a:t>            Cipher Suite: TLS_AES_256_GCM_SHA384 (0x1302)</a:t>
            </a:r>
          </a:p>
          <a:p>
            <a:r>
              <a:rPr lang="zh-CN" altLang="zh-CN" sz="1400" dirty="0"/>
              <a:t>            Compression Method: null (0)</a:t>
            </a:r>
          </a:p>
          <a:p>
            <a:r>
              <a:rPr lang="zh-CN" altLang="zh-CN" sz="1400" dirty="0"/>
              <a:t>            Extensions Length: 52</a:t>
            </a:r>
          </a:p>
          <a:p>
            <a:r>
              <a:rPr lang="zh-CN" altLang="zh-CN" sz="1400" dirty="0"/>
              <a:t>            Extension: pre_shared_key (len=2)</a:t>
            </a:r>
          </a:p>
          <a:p>
            <a:r>
              <a:rPr lang="zh-CN" altLang="zh-CN" sz="1400" dirty="0"/>
              <a:t>                Type: pre_shared_key (41)</a:t>
            </a:r>
          </a:p>
          <a:p>
            <a:r>
              <a:rPr lang="zh-CN" altLang="zh-CN" sz="1400" dirty="0"/>
              <a:t>                Length: 2</a:t>
            </a:r>
          </a:p>
          <a:p>
            <a:r>
              <a:rPr lang="zh-CN" altLang="zh-CN" sz="1400" dirty="0"/>
              <a:t>                Pre-Shared Key extension</a:t>
            </a:r>
          </a:p>
          <a:p>
            <a:r>
              <a:rPr lang="zh-CN" altLang="zh-CN" sz="1400" dirty="0"/>
              <a:t>                    Selected Identity: 0</a:t>
            </a:r>
          </a:p>
          <a:p>
            <a:r>
              <a:rPr lang="zh-CN" altLang="zh-CN" sz="1400" dirty="0"/>
              <a:t>            Extension: key_share (len=36) x25519</a:t>
            </a:r>
          </a:p>
          <a:p>
            <a:r>
              <a:rPr lang="zh-CN" altLang="zh-CN" sz="1400" dirty="0"/>
              <a:t>                Type: key_share (51)</a:t>
            </a:r>
          </a:p>
          <a:p>
            <a:r>
              <a:rPr lang="zh-CN" altLang="zh-CN" sz="1400" dirty="0"/>
              <a:t>                Length: 36</a:t>
            </a:r>
          </a:p>
          <a:p>
            <a:r>
              <a:rPr lang="zh-CN" altLang="zh-CN" sz="1400" dirty="0"/>
              <a:t>                Key Share extension</a:t>
            </a:r>
          </a:p>
          <a:p>
            <a:r>
              <a:rPr lang="zh-CN" altLang="zh-CN" sz="1400" dirty="0"/>
              <a:t>                    Key Share Entry: Group: x25519, Key Exchange length: 32</a:t>
            </a:r>
          </a:p>
          <a:p>
            <a:r>
              <a:rPr lang="zh-CN" altLang="zh-CN" sz="1400" dirty="0"/>
              <a:t>            Extension: supported_versions (len=2) TLS 1.3</a:t>
            </a:r>
          </a:p>
          <a:p>
            <a:r>
              <a:rPr lang="zh-CN" altLang="zh-CN" sz="1400" dirty="0"/>
              <a:t>                Type: supported_versions (43)</a:t>
            </a:r>
          </a:p>
          <a:p>
            <a:r>
              <a:rPr lang="zh-CN" altLang="zh-CN" sz="1400" dirty="0"/>
              <a:t>                Length: 2</a:t>
            </a:r>
          </a:p>
          <a:p>
            <a:r>
              <a:rPr lang="zh-CN" altLang="zh-CN" sz="1400" dirty="0"/>
              <a:t>                Supported Version: TLS 1.3 (0x0304)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54BF4E-3FA4-F15A-057C-59B79CB042D5}"/>
              </a:ext>
            </a:extLst>
          </p:cNvPr>
          <p:cNvSpPr txBox="1"/>
          <p:nvPr/>
        </p:nvSpPr>
        <p:spPr>
          <a:xfrm>
            <a:off x="3335984" y="3745887"/>
            <a:ext cx="4609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rgbClr val="0070C0"/>
                </a:solidFill>
              </a:rPr>
              <a:t>确认恢复会话，同时告诉客户端选择的是哪一个 PSK 身份</a:t>
            </a:r>
            <a:r>
              <a:rPr lang="zh-CN" altLang="en-US" sz="1400" dirty="0">
                <a:solidFill>
                  <a:srgbClr val="0070C0"/>
                </a:solidFill>
              </a:rPr>
              <a:t>（比如这次因为只有一个</a:t>
            </a:r>
            <a:r>
              <a:rPr lang="en-US" altLang="zh-CN" sz="1400" dirty="0" err="1">
                <a:solidFill>
                  <a:srgbClr val="0070C0"/>
                </a:solidFill>
              </a:rPr>
              <a:t>psk</a:t>
            </a:r>
            <a:r>
              <a:rPr lang="zh-CN" altLang="en-US" sz="1400" dirty="0">
                <a:solidFill>
                  <a:srgbClr val="0070C0"/>
                </a:solidFill>
              </a:rPr>
              <a:t>，选择的自然也是第一个，即</a:t>
            </a:r>
            <a:r>
              <a:rPr lang="en-US" altLang="zh-CN" sz="1400" dirty="0">
                <a:solidFill>
                  <a:srgbClr val="0070C0"/>
                </a:solidFill>
              </a:rPr>
              <a:t>0</a:t>
            </a:r>
            <a:r>
              <a:rPr lang="zh-CN" altLang="en-US" sz="1400" dirty="0">
                <a:solidFill>
                  <a:srgbClr val="0070C0"/>
                </a:solidFill>
              </a:rPr>
              <a:t>）</a:t>
            </a:r>
            <a:endParaRPr lang="zh-CN" altLang="zh-CN" sz="1400" dirty="0">
              <a:solidFill>
                <a:srgbClr val="0070C0"/>
              </a:solidFill>
            </a:endParaRP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B5420A-EA7E-1B17-682A-B77C94C7DD76}"/>
              </a:ext>
            </a:extLst>
          </p:cNvPr>
          <p:cNvSpPr txBox="1"/>
          <p:nvPr/>
        </p:nvSpPr>
        <p:spPr>
          <a:xfrm>
            <a:off x="3335984" y="4935220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重新发送服务器的密钥</a:t>
            </a:r>
          </a:p>
        </p:txBody>
      </p:sp>
    </p:spTree>
    <p:extLst>
      <p:ext uri="{BB962C8B-B14F-4D97-AF65-F5344CB8AC3E}">
        <p14:creationId xmlns:p14="http://schemas.microsoft.com/office/powerpoint/2010/main" val="3587385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F3440-5120-C8A7-F7EF-E7EA44A9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68E618A-7926-D198-EAA2-81E2912EE538}"/>
              </a:ext>
            </a:extLst>
          </p:cNvPr>
          <p:cNvSpPr txBox="1"/>
          <p:nvPr/>
        </p:nvSpPr>
        <p:spPr>
          <a:xfrm>
            <a:off x="502920" y="84055"/>
            <a:ext cx="813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1B4F72"/>
                </a:solidFill>
              </a:rPr>
              <a:t>QUIC</a:t>
            </a:r>
            <a:endParaRPr lang="zh-CN" altLang="en-US" sz="3200" b="1" dirty="0">
              <a:solidFill>
                <a:srgbClr val="1B4F7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6F7776-F504-5B1E-9B09-A9B465D55F30}"/>
              </a:ext>
            </a:extLst>
          </p:cNvPr>
          <p:cNvSpPr/>
          <p:nvPr/>
        </p:nvSpPr>
        <p:spPr>
          <a:xfrm>
            <a:off x="502920" y="763681"/>
            <a:ext cx="813816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9" descr="QUIC_new.png">
            <a:extLst>
              <a:ext uri="{FF2B5EF4-FFF2-40B4-BE49-F238E27FC236}">
                <a16:creationId xmlns:a16="http://schemas.microsoft.com/office/drawing/2014/main" id="{56562612-86A6-4B83-35E7-AB52F3FB8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63" y="847682"/>
            <a:ext cx="5286873" cy="2378071"/>
          </a:xfrm>
          <a:prstGeom prst="rect">
            <a:avLst/>
          </a:prstGeom>
        </p:spPr>
      </p:pic>
      <p:pic>
        <p:nvPicPr>
          <p:cNvPr id="8" name="Picture 10" descr="QUIC_reconnect.png">
            <a:extLst>
              <a:ext uri="{FF2B5EF4-FFF2-40B4-BE49-F238E27FC236}">
                <a16:creationId xmlns:a16="http://schemas.microsoft.com/office/drawing/2014/main" id="{2002F56A-11CB-A2B0-71FC-D67D5E3BF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563" y="3273179"/>
            <a:ext cx="5259874" cy="2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49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BA3DE-1C23-F2E0-BE68-340DB4C6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69FA9E7-7C08-5B74-86C2-F03DB26AE5FC}"/>
              </a:ext>
            </a:extLst>
          </p:cNvPr>
          <p:cNvSpPr txBox="1"/>
          <p:nvPr/>
        </p:nvSpPr>
        <p:spPr>
          <a:xfrm>
            <a:off x="497393" y="2386420"/>
            <a:ext cx="2877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1B4F72"/>
                </a:solidFill>
              </a:rPr>
              <a:t>新会话建立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9D9AED-BD30-F127-84D3-D00A12A0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952" y="1263474"/>
            <a:ext cx="4174874" cy="36026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E2B3294-A87E-77E1-AA6B-785B607EB0AE}"/>
              </a:ext>
            </a:extLst>
          </p:cNvPr>
          <p:cNvSpPr txBox="1"/>
          <p:nvPr/>
        </p:nvSpPr>
        <p:spPr>
          <a:xfrm>
            <a:off x="176573" y="4962984"/>
            <a:ext cx="8872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Client: Initial</a:t>
            </a:r>
          </a:p>
          <a:p>
            <a:r>
              <a:rPr lang="zh-CN" altLang="zh-CN" dirty="0"/>
              <a:t>Server: ACK -&gt; Server Hello -&gt; Handshake</a:t>
            </a:r>
          </a:p>
          <a:p>
            <a:r>
              <a:rPr lang="zh-CN" altLang="zh-CN" dirty="0"/>
              <a:t>Client: ACK -&gt; Handshake</a:t>
            </a:r>
            <a:endParaRPr lang="en-US" altLang="zh-CN" dirty="0"/>
          </a:p>
          <a:p>
            <a:r>
              <a:rPr lang="zh-CN" altLang="en-US" dirty="0"/>
              <a:t>其中，</a:t>
            </a:r>
            <a:r>
              <a:rPr lang="zh-CN" altLang="zh-CN" dirty="0"/>
              <a:t>Handshake 包空间中的报文已受握手密钥保护，其中可承载 TLS 1.3 的加密握手消息，例如 Certificate、CertificateVerify、Finished 等。</a:t>
            </a:r>
          </a:p>
        </p:txBody>
      </p:sp>
    </p:spTree>
    <p:extLst>
      <p:ext uri="{BB962C8B-B14F-4D97-AF65-F5344CB8AC3E}">
        <p14:creationId xmlns:p14="http://schemas.microsoft.com/office/powerpoint/2010/main" val="985390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3F14D5-43CB-EB0E-525B-436BEDCE33FF}"/>
              </a:ext>
            </a:extLst>
          </p:cNvPr>
          <p:cNvSpPr txBox="1"/>
          <p:nvPr/>
        </p:nvSpPr>
        <p:spPr>
          <a:xfrm>
            <a:off x="0" y="-63061"/>
            <a:ext cx="892552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Client Initial</a:t>
            </a:r>
          </a:p>
          <a:p>
            <a:r>
              <a:rPr lang="zh-CN" altLang="zh-CN" dirty="0"/>
              <a:t>CRYPTO</a:t>
            </a:r>
          </a:p>
          <a:p>
            <a:r>
              <a:rPr lang="zh-CN" altLang="zh-CN" dirty="0"/>
              <a:t>    Frame Type: CRYPTO (0x0000000000000006)</a:t>
            </a:r>
          </a:p>
          <a:p>
            <a:r>
              <a:rPr lang="zh-CN" altLang="zh-CN" dirty="0"/>
              <a:t>    Offset: 0</a:t>
            </a:r>
          </a:p>
          <a:p>
            <a:r>
              <a:rPr lang="zh-CN" altLang="zh-CN" dirty="0"/>
              <a:t>    Length: 486</a:t>
            </a:r>
          </a:p>
          <a:p>
            <a:r>
              <a:rPr lang="zh-CN" altLang="zh-CN" dirty="0"/>
              <a:t>    Crypto Data</a:t>
            </a:r>
          </a:p>
          <a:p>
            <a:r>
              <a:rPr lang="zh-CN" altLang="zh-CN" dirty="0"/>
              <a:t>    TLSv1.3 Record Layer: Handshake Protocol: Client Hello</a:t>
            </a:r>
          </a:p>
          <a:p>
            <a:r>
              <a:rPr lang="zh-CN" altLang="zh-CN" dirty="0"/>
              <a:t>        Handshake Protocol: Client Hello</a:t>
            </a:r>
          </a:p>
          <a:p>
            <a:r>
              <a:rPr lang="zh-CN" altLang="zh-CN" dirty="0"/>
              <a:t>            Handshake Type: Client Hello (1)</a:t>
            </a:r>
          </a:p>
          <a:p>
            <a:r>
              <a:rPr lang="zh-CN" altLang="zh-CN" dirty="0"/>
              <a:t>            Length: 482</a:t>
            </a:r>
          </a:p>
          <a:p>
            <a:r>
              <a:rPr lang="zh-CN" altLang="zh-CN" dirty="0"/>
              <a:t>            Version: TLS 1.2 (0x0303)</a:t>
            </a:r>
          </a:p>
          <a:p>
            <a:r>
              <a:rPr lang="zh-CN" altLang="zh-CN" dirty="0"/>
              <a:t>            Random: 338a709b1bf66037405b1cac5f2dc7239bd3927792f3fa7837f74e91d8ed603e</a:t>
            </a:r>
          </a:p>
          <a:p>
            <a:r>
              <a:rPr lang="zh-CN" altLang="zh-CN" dirty="0"/>
              <a:t>            Session ID Length: 0</a:t>
            </a:r>
          </a:p>
          <a:p>
            <a:r>
              <a:rPr lang="zh-CN" altLang="zh-CN" dirty="0"/>
              <a:t>            Cipher Suites Length: 6</a:t>
            </a:r>
          </a:p>
          <a:p>
            <a:r>
              <a:rPr lang="zh-CN" altLang="zh-CN" dirty="0"/>
              <a:t>            Cipher Suites (3 suites)</a:t>
            </a:r>
          </a:p>
          <a:p>
            <a:r>
              <a:rPr lang="zh-CN" altLang="zh-CN" dirty="0"/>
              <a:t>                Cipher Suite: TLS_AES_256_GCM_SHA384 (0x1302)</a:t>
            </a:r>
          </a:p>
          <a:p>
            <a:r>
              <a:rPr lang="zh-CN" altLang="zh-CN" dirty="0"/>
              <a:t>                Cipher Suite: TLS_AES_128_GCM_SHA256 (0x1301)</a:t>
            </a:r>
          </a:p>
          <a:p>
            <a:r>
              <a:rPr lang="zh-CN" altLang="zh-CN" dirty="0"/>
              <a:t>                Cipher Suite: TLS_CHACHA20_POLY1305_SHA256 (0x1303)</a:t>
            </a:r>
          </a:p>
          <a:p>
            <a:r>
              <a:rPr lang="zh-CN" altLang="zh-CN" dirty="0"/>
              <a:t>            Compression Methods Length: 1</a:t>
            </a:r>
          </a:p>
          <a:p>
            <a:r>
              <a:rPr lang="zh-CN" altLang="zh-CN" dirty="0"/>
              <a:t>            Compression Methods (1 method)</a:t>
            </a:r>
          </a:p>
          <a:p>
            <a:r>
              <a:rPr lang="zh-CN" altLang="zh-CN" dirty="0"/>
              <a:t>                Compression Method: null (0)</a:t>
            </a:r>
          </a:p>
          <a:p>
            <a:r>
              <a:rPr lang="zh-CN" altLang="zh-CN" dirty="0"/>
              <a:t>           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EBF99F-C89D-83C0-A2CF-560638E8857F}"/>
              </a:ext>
            </a:extLst>
          </p:cNvPr>
          <p:cNvSpPr txBox="1"/>
          <p:nvPr/>
        </p:nvSpPr>
        <p:spPr>
          <a:xfrm>
            <a:off x="3260347" y="2722316"/>
            <a:ext cx="2404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</a:rPr>
              <a:t>TLS</a:t>
            </a:r>
            <a:r>
              <a:rPr lang="zh-CN" altLang="en-US" sz="1400" dirty="0">
                <a:solidFill>
                  <a:srgbClr val="0070C0"/>
                </a:solidFill>
              </a:rPr>
              <a:t>格式要求，实际上已弃用</a:t>
            </a:r>
          </a:p>
        </p:txBody>
      </p:sp>
    </p:spTree>
    <p:extLst>
      <p:ext uri="{BB962C8B-B14F-4D97-AF65-F5344CB8AC3E}">
        <p14:creationId xmlns:p14="http://schemas.microsoft.com/office/powerpoint/2010/main" val="1165664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A24C8C-E086-06D5-42DD-6FBEAAB54B36}"/>
              </a:ext>
            </a:extLst>
          </p:cNvPr>
          <p:cNvSpPr txBox="1"/>
          <p:nvPr/>
        </p:nvSpPr>
        <p:spPr>
          <a:xfrm>
            <a:off x="-44143" y="-63063"/>
            <a:ext cx="7153625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Extensions Length: 435</a:t>
            </a:r>
          </a:p>
          <a:p>
            <a:r>
              <a:rPr lang="zh-CN" altLang="zh-CN" dirty="0"/>
              <a:t>           Extension: key_share (len=268) secp256r1, secp384r1, x25519, x448</a:t>
            </a:r>
          </a:p>
          <a:p>
            <a:r>
              <a:rPr lang="zh-CN" altLang="zh-CN" dirty="0"/>
              <a:t>                Type: key_share (51)</a:t>
            </a:r>
          </a:p>
          <a:p>
            <a:r>
              <a:rPr lang="zh-CN" altLang="zh-CN" dirty="0"/>
              <a:t>                Length: 268</a:t>
            </a:r>
          </a:p>
          <a:p>
            <a:r>
              <a:rPr lang="zh-CN" altLang="zh-CN" dirty="0"/>
              <a:t>                Key Share extension</a:t>
            </a:r>
          </a:p>
          <a:p>
            <a:r>
              <a:rPr lang="zh-CN" altLang="zh-CN" dirty="0"/>
              <a:t>                    Client Key Share Length: 266</a:t>
            </a:r>
          </a:p>
          <a:p>
            <a:r>
              <a:rPr lang="zh-CN" altLang="zh-CN" dirty="0"/>
              <a:t>                    Key Share Entry: Group: secp256r1, Key Exchange length: 65</a:t>
            </a:r>
          </a:p>
          <a:p>
            <a:r>
              <a:rPr lang="zh-CN" altLang="zh-CN" dirty="0"/>
              <a:t>                    Key Share Entry: Group: secp384r1, Key Exchange length: 97</a:t>
            </a:r>
          </a:p>
          <a:p>
            <a:r>
              <a:rPr lang="zh-CN" altLang="zh-CN" dirty="0"/>
              <a:t>                    Key Share Entry: Group: x25519, Key Exchange length: 32</a:t>
            </a:r>
          </a:p>
          <a:p>
            <a:r>
              <a:rPr lang="zh-CN" altLang="zh-CN" dirty="0"/>
              <a:t>                    Key Share Entry: Group: x448, Key Exchange length: 56</a:t>
            </a:r>
          </a:p>
          <a:p>
            <a:r>
              <a:rPr lang="zh-CN" altLang="zh-CN" dirty="0"/>
              <a:t>            Extension: supported_versions (len=3) TLS 1.3</a:t>
            </a:r>
          </a:p>
          <a:p>
            <a:r>
              <a:rPr lang="zh-CN" altLang="zh-CN" dirty="0"/>
              <a:t>                Type: supported_versions (43)</a:t>
            </a:r>
          </a:p>
          <a:p>
            <a:r>
              <a:rPr lang="zh-CN" altLang="zh-CN" dirty="0"/>
              <a:t>                Length: 3</a:t>
            </a:r>
          </a:p>
          <a:p>
            <a:r>
              <a:rPr lang="zh-CN" altLang="zh-CN" dirty="0"/>
              <a:t>                Supported Versions length: 2</a:t>
            </a:r>
          </a:p>
          <a:p>
            <a:r>
              <a:rPr lang="zh-CN" altLang="zh-CN" dirty="0"/>
              <a:t>                Supported Version: TLS 1.3 (0x0304)</a:t>
            </a:r>
          </a:p>
          <a:p>
            <a:r>
              <a:rPr lang="zh-CN" altLang="zh-CN" dirty="0"/>
              <a:t>            Extension: signature_algorithms (len=20)</a:t>
            </a:r>
          </a:p>
          <a:p>
            <a:r>
              <a:rPr lang="zh-CN" altLang="zh-CN" dirty="0"/>
              <a:t>                Type: signature_algorithms (13)</a:t>
            </a:r>
          </a:p>
          <a:p>
            <a:r>
              <a:rPr lang="zh-CN" altLang="zh-CN" dirty="0"/>
              <a:t>                Length: 20</a:t>
            </a:r>
          </a:p>
          <a:p>
            <a:r>
              <a:rPr lang="zh-CN" altLang="zh-CN" dirty="0"/>
              <a:t>                Signature Hash Algorithms Length: 18</a:t>
            </a:r>
          </a:p>
          <a:p>
            <a:r>
              <a:rPr lang="zh-CN" altLang="zh-CN" dirty="0"/>
              <a:t>                Signature Hash Algorithms (9 algorithms)</a:t>
            </a:r>
          </a:p>
          <a:p>
            <a:r>
              <a:rPr lang="zh-CN" altLang="zh-CN" dirty="0"/>
              <a:t>            Extension: supported_groups (len=10)</a:t>
            </a:r>
          </a:p>
          <a:p>
            <a:r>
              <a:rPr lang="zh-CN" altLang="zh-CN" dirty="0"/>
              <a:t>                Type: supported_groups (10)</a:t>
            </a:r>
          </a:p>
          <a:p>
            <a:r>
              <a:rPr lang="zh-CN" altLang="zh-CN" dirty="0"/>
              <a:t>                Length: 10</a:t>
            </a:r>
          </a:p>
          <a:p>
            <a:r>
              <a:rPr lang="zh-CN" altLang="zh-CN" dirty="0"/>
              <a:t>                Supported Groups List Length: 8</a:t>
            </a:r>
          </a:p>
          <a:p>
            <a:r>
              <a:rPr lang="zh-CN" altLang="zh-CN" dirty="0"/>
              <a:t>                Supported Groups (4 groups)</a:t>
            </a:r>
          </a:p>
          <a:p>
            <a:r>
              <a:rPr lang="zh-CN" altLang="zh-CN" dirty="0"/>
              <a:t>          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330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B3F661-AF1F-3B1D-9D59-460FB756E183}"/>
              </a:ext>
            </a:extLst>
          </p:cNvPr>
          <p:cNvSpPr txBox="1"/>
          <p:nvPr/>
        </p:nvSpPr>
        <p:spPr>
          <a:xfrm>
            <a:off x="-466660" y="0"/>
            <a:ext cx="7027758" cy="7063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/>
              <a:t>	</a:t>
            </a:r>
            <a:r>
              <a:rPr lang="zh-CN" altLang="zh-CN" sz="1500" dirty="0"/>
              <a:t>Extension: psk_key_exchange_modes (len=2)</a:t>
            </a:r>
          </a:p>
          <a:p>
            <a:r>
              <a:rPr lang="zh-CN" altLang="zh-CN" sz="1500" dirty="0"/>
              <a:t>                Type: psk_key_exchange_modes (45)</a:t>
            </a:r>
          </a:p>
          <a:p>
            <a:r>
              <a:rPr lang="zh-CN" altLang="zh-CN" sz="1500" dirty="0"/>
              <a:t>                Length: 2</a:t>
            </a:r>
          </a:p>
          <a:p>
            <a:r>
              <a:rPr lang="zh-CN" altLang="zh-CN" sz="1500" dirty="0"/>
              <a:t>                PSK Key Exchange Modes Length: 1</a:t>
            </a:r>
          </a:p>
          <a:p>
            <a:r>
              <a:rPr lang="zh-CN" altLang="zh-CN" sz="1500" dirty="0"/>
              <a:t>                PSK Key Exchange Mode: PSK with (EC)DHE key establishment (psk_dhe_ke) (1)</a:t>
            </a:r>
          </a:p>
          <a:p>
            <a:r>
              <a:rPr lang="zh-CN" altLang="zh-CN" sz="1500" dirty="0"/>
              <a:t>            Extension: server_name (len=24) name=cloudflare-quic.com</a:t>
            </a:r>
          </a:p>
          <a:p>
            <a:r>
              <a:rPr lang="zh-CN" altLang="zh-CN" sz="1500" dirty="0"/>
              <a:t>                Type: server_name (0)</a:t>
            </a:r>
          </a:p>
          <a:p>
            <a:r>
              <a:rPr lang="zh-CN" altLang="zh-CN" sz="1500" dirty="0"/>
              <a:t>                Length: 24</a:t>
            </a:r>
          </a:p>
          <a:p>
            <a:r>
              <a:rPr lang="zh-CN" altLang="zh-CN" sz="1500" dirty="0"/>
              <a:t>                Server Name Indication extension</a:t>
            </a:r>
          </a:p>
          <a:p>
            <a:r>
              <a:rPr lang="zh-CN" altLang="zh-CN" sz="1500" dirty="0"/>
              <a:t>            Extension: application_layer_protocol_negotiation (len=5)</a:t>
            </a:r>
          </a:p>
          <a:p>
            <a:r>
              <a:rPr lang="zh-CN" altLang="zh-CN" sz="1500" dirty="0"/>
              <a:t>                Type: application_layer_protocol_negotiation (16)</a:t>
            </a:r>
          </a:p>
          <a:p>
            <a:r>
              <a:rPr lang="zh-CN" altLang="zh-CN" sz="1500" dirty="0"/>
              <a:t>                Length: 5</a:t>
            </a:r>
          </a:p>
          <a:p>
            <a:r>
              <a:rPr lang="zh-CN" altLang="zh-CN" sz="1500" dirty="0"/>
              <a:t>                ALPN Extension Length: 3</a:t>
            </a:r>
          </a:p>
          <a:p>
            <a:r>
              <a:rPr lang="zh-CN" altLang="zh-CN" sz="1500" dirty="0"/>
              <a:t>                ALPN Protocol</a:t>
            </a:r>
          </a:p>
          <a:p>
            <a:r>
              <a:rPr lang="zh-CN" altLang="zh-CN" sz="1500" dirty="0"/>
              <a:t>            Extension: quic_transport_parameters (len=71)</a:t>
            </a:r>
          </a:p>
          <a:p>
            <a:r>
              <a:rPr lang="zh-CN" altLang="zh-CN" sz="1500" dirty="0"/>
              <a:t>                Type: quic_transport_parameters (57)</a:t>
            </a:r>
          </a:p>
          <a:p>
            <a:r>
              <a:rPr lang="zh-CN" altLang="zh-CN" sz="1500" dirty="0"/>
              <a:t>                Length: 71</a:t>
            </a:r>
          </a:p>
          <a:p>
            <a:r>
              <a:rPr lang="zh-CN" altLang="zh-CN" sz="1500" dirty="0"/>
              <a:t>                Parameter: max_idle_timeout (len=4) 60000 ms</a:t>
            </a:r>
          </a:p>
          <a:p>
            <a:r>
              <a:rPr lang="zh-CN" altLang="zh-CN" sz="1500" dirty="0"/>
              <a:t>                Parameter: initial_max_data (len=4) 1048576</a:t>
            </a:r>
          </a:p>
          <a:p>
            <a:r>
              <a:rPr lang="zh-CN" altLang="zh-CN" sz="1500" dirty="0"/>
              <a:t>                Parameter: initial_max_stream_data_bidi_local (len=4) 1048576</a:t>
            </a:r>
          </a:p>
          <a:p>
            <a:r>
              <a:rPr lang="zh-CN" altLang="zh-CN" sz="1500" dirty="0"/>
              <a:t>                Parameter: initial_max_stream_data_bidi_remote (len=4) 1048576</a:t>
            </a:r>
          </a:p>
          <a:p>
            <a:r>
              <a:rPr lang="zh-CN" altLang="zh-CN" sz="1500" dirty="0"/>
              <a:t>                Parameter: initial_max_stream_data_uni (len=4) 1048576</a:t>
            </a:r>
          </a:p>
          <a:p>
            <a:r>
              <a:rPr lang="zh-CN" altLang="zh-CN" sz="1500" dirty="0"/>
              <a:t>                Parameter: initial_max_streams_bidi (len=2) 128</a:t>
            </a:r>
          </a:p>
          <a:p>
            <a:r>
              <a:rPr lang="zh-CN" altLang="zh-CN" sz="1500" dirty="0"/>
              <a:t>                Parameter: initial_max_streams_uni (len=2) 128</a:t>
            </a:r>
          </a:p>
          <a:p>
            <a:r>
              <a:rPr lang="zh-CN" altLang="zh-CN" sz="1500" dirty="0"/>
              <a:t>                Parameter: ack_delay_exponent (len=1)</a:t>
            </a:r>
          </a:p>
          <a:p>
            <a:r>
              <a:rPr lang="zh-CN" altLang="zh-CN" sz="1500" dirty="0"/>
              <a:t>                Parameter: max_ack_delay (len=1) 25</a:t>
            </a:r>
          </a:p>
          <a:p>
            <a:r>
              <a:rPr lang="zh-CN" altLang="zh-CN" sz="1500" dirty="0"/>
              <a:t>                Parameter: active_connection_id_limit (len=1) 8</a:t>
            </a:r>
          </a:p>
          <a:p>
            <a:r>
              <a:rPr lang="zh-CN" altLang="zh-CN" sz="1500" dirty="0"/>
              <a:t>                Parameter: initial_source_connection_id (len=8)</a:t>
            </a:r>
          </a:p>
          <a:p>
            <a:r>
              <a:rPr lang="zh-CN" altLang="zh-CN" sz="1500" dirty="0"/>
              <a:t>                Parameter: version_information (len=12)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A2988F-8F0B-586D-72DB-C0B7D71FDE97}"/>
              </a:ext>
            </a:extLst>
          </p:cNvPr>
          <p:cNvSpPr txBox="1"/>
          <p:nvPr/>
        </p:nvSpPr>
        <p:spPr>
          <a:xfrm>
            <a:off x="2831487" y="2770964"/>
            <a:ext cx="3010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告诉服务器建立的是</a:t>
            </a:r>
            <a:r>
              <a:rPr lang="en-US" altLang="zh-CN" sz="1400" dirty="0">
                <a:solidFill>
                  <a:srgbClr val="0070C0"/>
                </a:solidFill>
              </a:rPr>
              <a:t>HTTP/3.0</a:t>
            </a:r>
            <a:r>
              <a:rPr lang="zh-CN" altLang="en-US" sz="1400" dirty="0">
                <a:solidFill>
                  <a:srgbClr val="0070C0"/>
                </a:solidFill>
              </a:rPr>
              <a:t>的连接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0A37E5-CD56-4BD5-6DFC-363813F27419}"/>
              </a:ext>
            </a:extLst>
          </p:cNvPr>
          <p:cNvSpPr txBox="1"/>
          <p:nvPr/>
        </p:nvSpPr>
        <p:spPr>
          <a:xfrm>
            <a:off x="3903541" y="3223959"/>
            <a:ext cx="2356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</a:rPr>
              <a:t>下面是</a:t>
            </a:r>
            <a:r>
              <a:rPr lang="en-US" altLang="zh-CN" sz="1400" dirty="0">
                <a:solidFill>
                  <a:srgbClr val="0070C0"/>
                </a:solidFill>
              </a:rPr>
              <a:t>QUIC</a:t>
            </a:r>
            <a:r>
              <a:rPr lang="zh-CN" altLang="en-US" sz="1400" dirty="0">
                <a:solidFill>
                  <a:srgbClr val="0070C0"/>
                </a:solidFill>
              </a:rPr>
              <a:t>的一些连接参数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3D9684-E51A-3B3C-3FDE-5A2F28386FD3}"/>
              </a:ext>
            </a:extLst>
          </p:cNvPr>
          <p:cNvSpPr txBox="1"/>
          <p:nvPr/>
        </p:nvSpPr>
        <p:spPr>
          <a:xfrm>
            <a:off x="4147359" y="3925149"/>
            <a:ext cx="2608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</a:rPr>
              <a:t>空闲时间超过</a:t>
            </a:r>
            <a:r>
              <a:rPr lang="en-US" altLang="zh-CN" sz="1200" dirty="0">
                <a:solidFill>
                  <a:srgbClr val="0070C0"/>
                </a:solidFill>
              </a:rPr>
              <a:t>60000ms</a:t>
            </a:r>
            <a:r>
              <a:rPr lang="zh-CN" altLang="en-US" sz="1200" dirty="0">
                <a:solidFill>
                  <a:srgbClr val="0070C0"/>
                </a:solidFill>
              </a:rPr>
              <a:t>直接关闭连接</a:t>
            </a:r>
            <a:endParaRPr lang="en-US" altLang="zh-CN" sz="1200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860BB0-55E5-89CF-372B-2C4BF26516E2}"/>
              </a:ext>
            </a:extLst>
          </p:cNvPr>
          <p:cNvSpPr txBox="1"/>
          <p:nvPr/>
        </p:nvSpPr>
        <p:spPr>
          <a:xfrm>
            <a:off x="4147359" y="4131401"/>
            <a:ext cx="37802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整个连接的总流控窗口，所有流加起来不能超过 1 MB</a:t>
            </a: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624751-1E89-F959-E360-6F780D3D0ECB}"/>
              </a:ext>
            </a:extLst>
          </p:cNvPr>
          <p:cNvSpPr txBox="1"/>
          <p:nvPr/>
        </p:nvSpPr>
        <p:spPr>
          <a:xfrm>
            <a:off x="5372889" y="4376981"/>
            <a:ext cx="3164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本地发起的双向流，单个流的流控窗口 1 MB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318D71-F442-D216-6502-3BC06257A61D}"/>
              </a:ext>
            </a:extLst>
          </p:cNvPr>
          <p:cNvSpPr txBox="1"/>
          <p:nvPr/>
        </p:nvSpPr>
        <p:spPr>
          <a:xfrm>
            <a:off x="5502012" y="4595561"/>
            <a:ext cx="3164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对方发起的双向流，单个流的流控窗口 1 MB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3C3ECCB-6E98-0891-0F8C-A04E2549121C}"/>
              </a:ext>
            </a:extLst>
          </p:cNvPr>
          <p:cNvSpPr txBox="1"/>
          <p:nvPr/>
        </p:nvSpPr>
        <p:spPr>
          <a:xfrm>
            <a:off x="4849122" y="4826560"/>
            <a:ext cx="23952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单向流，单个流的流控窗口 1 MB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A65DD2-CCC8-0FD7-EB56-0E3C35CC1D91}"/>
              </a:ext>
            </a:extLst>
          </p:cNvPr>
          <p:cNvSpPr txBox="1"/>
          <p:nvPr/>
        </p:nvSpPr>
        <p:spPr>
          <a:xfrm>
            <a:off x="4230553" y="5077196"/>
            <a:ext cx="2029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最多同时打开 128 个双向流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FD2E07-4BBC-00B0-356D-4D297DA30A5A}"/>
              </a:ext>
            </a:extLst>
          </p:cNvPr>
          <p:cNvSpPr txBox="1"/>
          <p:nvPr/>
        </p:nvSpPr>
        <p:spPr>
          <a:xfrm>
            <a:off x="4230553" y="5293319"/>
            <a:ext cx="2029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最多同时打开 128 个单向流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890610-2D5A-D511-3B73-14C2B1DA1170}"/>
              </a:ext>
            </a:extLst>
          </p:cNvPr>
          <p:cNvSpPr txBox="1"/>
          <p:nvPr/>
        </p:nvSpPr>
        <p:spPr>
          <a:xfrm>
            <a:off x="3317837" y="5507968"/>
            <a:ext cx="6045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定义 ACK 延迟的编码精度</a:t>
            </a:r>
            <a:r>
              <a:rPr lang="zh-CN" altLang="en-US" sz="1200" dirty="0">
                <a:solidFill>
                  <a:srgbClr val="0070C0"/>
                </a:solidFill>
              </a:rPr>
              <a:t>（</a:t>
            </a:r>
            <a:r>
              <a:rPr lang="zh-CN" altLang="zh-CN" sz="1200" dirty="0">
                <a:solidFill>
                  <a:srgbClr val="0070C0"/>
                </a:solidFill>
              </a:rPr>
              <a:t>传输的整数需要乘上多少倍，才能还原成真实的微秒延迟</a:t>
            </a:r>
            <a:r>
              <a:rPr lang="zh-CN" altLang="en-US" sz="1200" dirty="0">
                <a:solidFill>
                  <a:srgbClr val="0070C0"/>
                </a:solidFill>
              </a:rPr>
              <a:t>）</a:t>
            </a:r>
            <a:endParaRPr lang="zh-CN" altLang="zh-CN" sz="1200" dirty="0">
              <a:solidFill>
                <a:srgbClr val="0070C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778A05-FC49-4536-22BD-B596C96013AA}"/>
              </a:ext>
            </a:extLst>
          </p:cNvPr>
          <p:cNvSpPr txBox="1"/>
          <p:nvPr/>
        </p:nvSpPr>
        <p:spPr>
          <a:xfrm>
            <a:off x="3317837" y="5747029"/>
            <a:ext cx="2083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对方最多延迟 25 毫秒发 ACK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AD84B00-8930-939D-C3B5-1E0725014642}"/>
              </a:ext>
            </a:extLst>
          </p:cNvPr>
          <p:cNvSpPr txBox="1"/>
          <p:nvPr/>
        </p:nvSpPr>
        <p:spPr>
          <a:xfrm>
            <a:off x="4038191" y="5986090"/>
            <a:ext cx="4272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告诉通信对方，我方同时愿意接收/维护多少个活跃的连接 ID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4285D48-25E5-B628-079C-F3CD26A6A17C}"/>
              </a:ext>
            </a:extLst>
          </p:cNvPr>
          <p:cNvSpPr txBox="1"/>
          <p:nvPr/>
        </p:nvSpPr>
        <p:spPr>
          <a:xfrm>
            <a:off x="4056215" y="6225151"/>
            <a:ext cx="3430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客户端一开始选的连接 ID，用来防止被错误关联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3A4D5C9-CB0B-5701-B317-D1FA8C3C9886}"/>
              </a:ext>
            </a:extLst>
          </p:cNvPr>
          <p:cNvSpPr txBox="1"/>
          <p:nvPr/>
        </p:nvSpPr>
        <p:spPr>
          <a:xfrm>
            <a:off x="3484355" y="6469036"/>
            <a:ext cx="3195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70C0"/>
                </a:solidFill>
              </a:rPr>
              <a:t>客户端支持的 QUIC 版本列表，供服务器选择</a:t>
            </a:r>
          </a:p>
        </p:txBody>
      </p:sp>
    </p:spTree>
    <p:extLst>
      <p:ext uri="{BB962C8B-B14F-4D97-AF65-F5344CB8AC3E}">
        <p14:creationId xmlns:p14="http://schemas.microsoft.com/office/powerpoint/2010/main" val="1777111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DEDFEE-2CCD-EF40-CC90-7D3B285395FD}"/>
              </a:ext>
            </a:extLst>
          </p:cNvPr>
          <p:cNvSpPr txBox="1"/>
          <p:nvPr/>
        </p:nvSpPr>
        <p:spPr>
          <a:xfrm>
            <a:off x="0" y="0"/>
            <a:ext cx="8838573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Server Initial</a:t>
            </a:r>
          </a:p>
          <a:p>
            <a:r>
              <a:rPr lang="zh-CN" altLang="zh-CN" dirty="0"/>
              <a:t>CRYPTO</a:t>
            </a:r>
          </a:p>
          <a:p>
            <a:r>
              <a:rPr lang="zh-CN" altLang="zh-CN" dirty="0"/>
              <a:t>    Frame Type: CRYPTO (0x0000000000000006)</a:t>
            </a:r>
          </a:p>
          <a:p>
            <a:r>
              <a:rPr lang="zh-CN" altLang="zh-CN" dirty="0"/>
              <a:t>    Offset: 0</a:t>
            </a:r>
          </a:p>
          <a:p>
            <a:r>
              <a:rPr lang="zh-CN" altLang="zh-CN" dirty="0"/>
              <a:t>    Length: 90</a:t>
            </a:r>
          </a:p>
          <a:p>
            <a:r>
              <a:rPr lang="zh-CN" altLang="zh-CN" dirty="0"/>
              <a:t>    Crypto Data</a:t>
            </a:r>
          </a:p>
          <a:p>
            <a:r>
              <a:rPr lang="zh-CN" altLang="zh-CN" dirty="0"/>
              <a:t>    TLSv1.3 Record Layer: Handshake Protocol: Server Hello</a:t>
            </a:r>
          </a:p>
          <a:p>
            <a:r>
              <a:rPr lang="zh-CN" altLang="zh-CN" dirty="0"/>
              <a:t>        Handshake Protocol: Server Hello</a:t>
            </a:r>
          </a:p>
          <a:p>
            <a:r>
              <a:rPr lang="zh-CN" altLang="zh-CN" dirty="0"/>
              <a:t>            Handshake Type: Server Hello (2)</a:t>
            </a:r>
          </a:p>
          <a:p>
            <a:r>
              <a:rPr lang="zh-CN" altLang="zh-CN" dirty="0"/>
              <a:t>            Length: 86</a:t>
            </a:r>
          </a:p>
          <a:p>
            <a:r>
              <a:rPr lang="zh-CN" altLang="zh-CN" dirty="0"/>
              <a:t>            Version: TLS 1.2 (0x0303)</a:t>
            </a:r>
          </a:p>
          <a:p>
            <a:r>
              <a:rPr lang="zh-CN" altLang="zh-CN" dirty="0"/>
              <a:t>            Random: 4dc6c9dfaeee46a6a231d448c28b84affa4db3ca6d4ffb4e8937d08f38e1400d</a:t>
            </a:r>
          </a:p>
          <a:p>
            <a:r>
              <a:rPr lang="zh-CN" altLang="zh-CN" dirty="0"/>
              <a:t>            Session ID Length: 0</a:t>
            </a:r>
          </a:p>
          <a:p>
            <a:r>
              <a:rPr lang="zh-CN" altLang="zh-CN" dirty="0"/>
              <a:t>            Cipher Suite: TLS_AES_256_GCM_SHA384 (0x1302)</a:t>
            </a:r>
          </a:p>
          <a:p>
            <a:r>
              <a:rPr lang="zh-CN" altLang="zh-CN" dirty="0"/>
              <a:t>            Compression Method: null (0)</a:t>
            </a:r>
          </a:p>
          <a:p>
            <a:r>
              <a:rPr lang="zh-CN" altLang="zh-CN" dirty="0"/>
              <a:t>            Extensions Length: 46</a:t>
            </a:r>
          </a:p>
          <a:p>
            <a:r>
              <a:rPr lang="zh-CN" altLang="zh-CN" dirty="0"/>
              <a:t>            Extension: key_share (len=36) x25519</a:t>
            </a:r>
          </a:p>
          <a:p>
            <a:r>
              <a:rPr lang="zh-CN" altLang="zh-CN" dirty="0"/>
              <a:t>                Type: key_share (51)</a:t>
            </a:r>
          </a:p>
          <a:p>
            <a:r>
              <a:rPr lang="zh-CN" altLang="zh-CN" dirty="0"/>
              <a:t>                Length: 36</a:t>
            </a:r>
          </a:p>
          <a:p>
            <a:r>
              <a:rPr lang="zh-CN" altLang="zh-CN" dirty="0"/>
              <a:t>                Key Share extension</a:t>
            </a:r>
          </a:p>
          <a:p>
            <a:r>
              <a:rPr lang="zh-CN" altLang="zh-CN" dirty="0"/>
              <a:t>                    Key Share Entry: Group: x25519, Key Exchange length: 32</a:t>
            </a:r>
          </a:p>
          <a:p>
            <a:r>
              <a:rPr lang="zh-CN" altLang="zh-CN" dirty="0"/>
              <a:t>            Extension: supported_versions (len=2) TLS 1.3</a:t>
            </a:r>
          </a:p>
          <a:p>
            <a:r>
              <a:rPr lang="zh-CN" altLang="zh-CN" dirty="0"/>
              <a:t>                Type: supported_versions (43)</a:t>
            </a:r>
          </a:p>
          <a:p>
            <a:r>
              <a:rPr lang="zh-CN" altLang="zh-CN" dirty="0"/>
              <a:t>                Length: 2</a:t>
            </a:r>
          </a:p>
          <a:p>
            <a:r>
              <a:rPr lang="zh-CN" altLang="zh-CN" dirty="0"/>
              <a:t>                Supported Version: TLS 1.3 (0x0304)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2072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69462-FBF5-9450-E286-E6FE7F06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AFD75AA-1ED0-F8E0-9673-6C8F1B10CC31}"/>
              </a:ext>
            </a:extLst>
          </p:cNvPr>
          <p:cNvSpPr txBox="1"/>
          <p:nvPr/>
        </p:nvSpPr>
        <p:spPr>
          <a:xfrm>
            <a:off x="497393" y="2386420"/>
            <a:ext cx="2877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1B4F72"/>
                </a:solidFill>
              </a:rPr>
              <a:t>会话恢复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1C4F93-DCD0-E435-936F-779267846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952" y="1263474"/>
            <a:ext cx="4174874" cy="36026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4C89ACD-E90D-B691-15A9-511CE54A76B2}"/>
              </a:ext>
            </a:extLst>
          </p:cNvPr>
          <p:cNvSpPr txBox="1"/>
          <p:nvPr/>
        </p:nvSpPr>
        <p:spPr>
          <a:xfrm>
            <a:off x="3122692" y="5271360"/>
            <a:ext cx="2709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Client: Initial </a:t>
            </a:r>
          </a:p>
          <a:p>
            <a:r>
              <a:rPr lang="zh-CN" altLang="zh-CN" dirty="0"/>
              <a:t>Server: ACK -&gt; Server Hello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66580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60A0EB-63DF-6ADA-64D7-F256B7B449AE}"/>
              </a:ext>
            </a:extLst>
          </p:cNvPr>
          <p:cNvSpPr txBox="1"/>
          <p:nvPr/>
        </p:nvSpPr>
        <p:spPr>
          <a:xfrm>
            <a:off x="0" y="0"/>
            <a:ext cx="902651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Client Initial</a:t>
            </a:r>
          </a:p>
          <a:p>
            <a:r>
              <a:rPr lang="zh-CN" altLang="zh-CN" dirty="0"/>
              <a:t>CRYPTO</a:t>
            </a:r>
          </a:p>
          <a:p>
            <a:r>
              <a:rPr lang="zh-CN" altLang="zh-CN" dirty="0"/>
              <a:t>    Frame Type: CRYPTO (0x0000000000000006)</a:t>
            </a:r>
          </a:p>
          <a:p>
            <a:r>
              <a:rPr lang="zh-CN" altLang="zh-CN" dirty="0"/>
              <a:t>    Offset: 0</a:t>
            </a:r>
          </a:p>
          <a:p>
            <a:r>
              <a:rPr lang="zh-CN" altLang="zh-CN" dirty="0"/>
              <a:t>    Length: 777</a:t>
            </a:r>
          </a:p>
          <a:p>
            <a:r>
              <a:rPr lang="zh-CN" altLang="zh-CN" dirty="0"/>
              <a:t>    Crypto Data</a:t>
            </a:r>
          </a:p>
          <a:p>
            <a:r>
              <a:rPr lang="zh-CN" altLang="zh-CN" dirty="0"/>
              <a:t>    TLSv1.3 Record Layer: Handshake Protocol: Client Hello</a:t>
            </a:r>
          </a:p>
          <a:p>
            <a:r>
              <a:rPr lang="zh-CN" altLang="zh-CN" dirty="0"/>
              <a:t>        Handshake Protocol: Client Hello</a:t>
            </a:r>
          </a:p>
          <a:p>
            <a:r>
              <a:rPr lang="zh-CN" altLang="zh-CN" dirty="0"/>
              <a:t>            Handshake Type: Client Hello (1)</a:t>
            </a:r>
          </a:p>
          <a:p>
            <a:r>
              <a:rPr lang="zh-CN" altLang="zh-CN" dirty="0"/>
              <a:t>            Length: 773</a:t>
            </a:r>
          </a:p>
          <a:p>
            <a:r>
              <a:rPr lang="zh-CN" altLang="zh-CN" dirty="0"/>
              <a:t>            Version: TLS 1.2 (0x0303)</a:t>
            </a:r>
          </a:p>
          <a:p>
            <a:r>
              <a:rPr lang="zh-CN" altLang="zh-CN" dirty="0"/>
              <a:t>            Random: dc75d8d6e0502072061cb2ce97a5284957ec25bce6cdbf032118d264f4b231ee</a:t>
            </a:r>
          </a:p>
          <a:p>
            <a:r>
              <a:rPr lang="zh-CN" altLang="zh-CN" dirty="0"/>
              <a:t>            Session ID Length: 0</a:t>
            </a:r>
          </a:p>
          <a:p>
            <a:r>
              <a:rPr lang="zh-CN" altLang="zh-CN" dirty="0"/>
              <a:t>            Cipher Suites Length: 6</a:t>
            </a:r>
          </a:p>
          <a:p>
            <a:r>
              <a:rPr lang="zh-CN" altLang="zh-CN" dirty="0"/>
              <a:t>            Cipher Suites (3 suites)</a:t>
            </a:r>
          </a:p>
          <a:p>
            <a:r>
              <a:rPr lang="zh-CN" altLang="zh-CN" dirty="0"/>
              <a:t>                Cipher Suite: TLS_AES_256_GCM_SHA384 (0x1302)</a:t>
            </a:r>
          </a:p>
          <a:p>
            <a:r>
              <a:rPr lang="zh-CN" altLang="zh-CN" dirty="0"/>
              <a:t>                Cipher Suite: TLS_AES_128_GCM_SHA256 (0x1301)</a:t>
            </a:r>
          </a:p>
          <a:p>
            <a:r>
              <a:rPr lang="zh-CN" altLang="zh-CN" dirty="0"/>
              <a:t>                Cipher Suite: TLS_CHACHA20_POLY1305_SHA256 (0x1303)</a:t>
            </a:r>
          </a:p>
          <a:p>
            <a:r>
              <a:rPr lang="zh-CN" altLang="zh-CN" dirty="0"/>
              <a:t>            Compression Methods Length: 1</a:t>
            </a:r>
          </a:p>
          <a:p>
            <a:r>
              <a:rPr lang="zh-CN" altLang="zh-CN" dirty="0"/>
              <a:t>            Compression Methods (1 method)</a:t>
            </a:r>
          </a:p>
          <a:p>
            <a:r>
              <a:rPr lang="zh-CN" altLang="zh-CN" dirty="0"/>
              <a:t>                Compression Method: null (0)</a:t>
            </a:r>
          </a:p>
          <a:p>
            <a:r>
              <a:rPr lang="zh-CN" altLang="zh-CN" dirty="0"/>
              <a:t>          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39158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4AB0BD-BCD8-FD96-290E-798A82BD71A1}"/>
              </a:ext>
            </a:extLst>
          </p:cNvPr>
          <p:cNvSpPr txBox="1"/>
          <p:nvPr/>
        </p:nvSpPr>
        <p:spPr>
          <a:xfrm>
            <a:off x="-466660" y="-25225"/>
            <a:ext cx="7206525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zh-CN" dirty="0"/>
              <a:t>Extensions Length: 726</a:t>
            </a:r>
          </a:p>
          <a:p>
            <a:r>
              <a:rPr lang="zh-CN" altLang="zh-CN" dirty="0"/>
              <a:t>            Extension: key_share (len=268) secp256r1, secp384r1, x25519, x448</a:t>
            </a:r>
          </a:p>
          <a:p>
            <a:r>
              <a:rPr lang="zh-CN" altLang="zh-CN" dirty="0"/>
              <a:t>                Type: key_share (51)</a:t>
            </a:r>
          </a:p>
          <a:p>
            <a:r>
              <a:rPr lang="zh-CN" altLang="zh-CN" dirty="0"/>
              <a:t>                Length: 268</a:t>
            </a:r>
          </a:p>
          <a:p>
            <a:r>
              <a:rPr lang="zh-CN" altLang="zh-CN" dirty="0"/>
              <a:t>                Key Share extension</a:t>
            </a:r>
          </a:p>
          <a:p>
            <a:r>
              <a:rPr lang="zh-CN" altLang="zh-CN" dirty="0"/>
              <a:t>                    Client Key Share Length: 266</a:t>
            </a:r>
          </a:p>
          <a:p>
            <a:r>
              <a:rPr lang="zh-CN" altLang="zh-CN" dirty="0"/>
              <a:t>                    Key Share Entry: Group: secp256r1, Key Exchange length: 65</a:t>
            </a:r>
          </a:p>
          <a:p>
            <a:r>
              <a:rPr lang="zh-CN" altLang="zh-CN" dirty="0"/>
              <a:t>                    Key Share Entry: Group: secp384r1, Key Exchange length: 97</a:t>
            </a:r>
          </a:p>
          <a:p>
            <a:r>
              <a:rPr lang="zh-CN" altLang="zh-CN" dirty="0"/>
              <a:t>                    Key Share Entry: Group: x25519, Key Exchange length: 32</a:t>
            </a:r>
          </a:p>
          <a:p>
            <a:r>
              <a:rPr lang="zh-CN" altLang="zh-CN" dirty="0"/>
              <a:t>                    Key Share Entry: Group: x448, Key Exchange length: 56</a:t>
            </a:r>
          </a:p>
          <a:p>
            <a:r>
              <a:rPr lang="zh-CN" altLang="zh-CN" dirty="0"/>
              <a:t>            Extension: supported_versions (len=3) TLS 1.3</a:t>
            </a:r>
          </a:p>
          <a:p>
            <a:r>
              <a:rPr lang="zh-CN" altLang="zh-CN" dirty="0"/>
              <a:t>                Type: supported_versions (43)</a:t>
            </a:r>
          </a:p>
          <a:p>
            <a:r>
              <a:rPr lang="zh-CN" altLang="zh-CN" dirty="0"/>
              <a:t>                Length: 3</a:t>
            </a:r>
          </a:p>
          <a:p>
            <a:r>
              <a:rPr lang="zh-CN" altLang="zh-CN" dirty="0"/>
              <a:t>                Supported Versions length: 2</a:t>
            </a:r>
          </a:p>
          <a:p>
            <a:r>
              <a:rPr lang="zh-CN" altLang="zh-CN" dirty="0"/>
              <a:t>                Supported Version: TLS 1.3 (0x0304)</a:t>
            </a:r>
          </a:p>
          <a:p>
            <a:r>
              <a:rPr lang="zh-CN" altLang="zh-CN" dirty="0"/>
              <a:t>            Extension: signature_algorithms (len=20)</a:t>
            </a:r>
          </a:p>
          <a:p>
            <a:r>
              <a:rPr lang="zh-CN" altLang="zh-CN" dirty="0"/>
              <a:t>                Type: signature_algorithms (13)</a:t>
            </a:r>
          </a:p>
          <a:p>
            <a:r>
              <a:rPr lang="zh-CN" altLang="zh-CN" dirty="0"/>
              <a:t>                Length: 20</a:t>
            </a:r>
          </a:p>
          <a:p>
            <a:r>
              <a:rPr lang="zh-CN" altLang="zh-CN" dirty="0"/>
              <a:t>                Signature Hash Algorithms Length: 18</a:t>
            </a:r>
          </a:p>
          <a:p>
            <a:r>
              <a:rPr lang="zh-CN" altLang="zh-CN" dirty="0"/>
              <a:t>                Signature Hash Algorithms (9 algorithms)</a:t>
            </a:r>
          </a:p>
          <a:p>
            <a:r>
              <a:rPr lang="zh-CN" altLang="zh-CN" dirty="0"/>
              <a:t>            Extension: supported_groups (len=10)</a:t>
            </a:r>
          </a:p>
          <a:p>
            <a:r>
              <a:rPr lang="zh-CN" altLang="zh-CN" dirty="0"/>
              <a:t>                Type: supported_groups (10)</a:t>
            </a:r>
          </a:p>
          <a:p>
            <a:r>
              <a:rPr lang="zh-CN" altLang="zh-CN" dirty="0"/>
              <a:t>                Length: 10</a:t>
            </a:r>
          </a:p>
          <a:p>
            <a:r>
              <a:rPr lang="zh-CN" altLang="zh-CN" dirty="0"/>
              <a:t>                Supported Groups List Length: 8</a:t>
            </a:r>
          </a:p>
          <a:p>
            <a:r>
              <a:rPr lang="zh-CN" altLang="zh-CN" dirty="0"/>
              <a:t>                Supported Groups (4 groups)</a:t>
            </a:r>
          </a:p>
          <a:p>
            <a:r>
              <a:rPr lang="zh-CN" altLang="zh-CN" dirty="0"/>
              <a:t>          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7007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B67F50-3EA9-D782-2383-E58ADBC0A75B}"/>
              </a:ext>
            </a:extLst>
          </p:cNvPr>
          <p:cNvSpPr txBox="1"/>
          <p:nvPr/>
        </p:nvSpPr>
        <p:spPr>
          <a:xfrm>
            <a:off x="-454047" y="19054"/>
            <a:ext cx="6576416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	</a:t>
            </a:r>
            <a:r>
              <a:rPr lang="zh-CN" altLang="zh-CN" sz="1400" dirty="0"/>
              <a:t>Extension: psk_key_exchange_modes (len=2)</a:t>
            </a:r>
          </a:p>
          <a:p>
            <a:r>
              <a:rPr lang="zh-CN" altLang="zh-CN" sz="1400" dirty="0"/>
              <a:t>                Type: psk_key_exchange_modes (45)</a:t>
            </a:r>
          </a:p>
          <a:p>
            <a:r>
              <a:rPr lang="zh-CN" altLang="zh-CN" sz="1400" dirty="0"/>
              <a:t>                Length: 2</a:t>
            </a:r>
          </a:p>
          <a:p>
            <a:r>
              <a:rPr lang="zh-CN" altLang="zh-CN" sz="1400" dirty="0"/>
              <a:t>                PSK Key Exchange Modes Length: 1</a:t>
            </a:r>
          </a:p>
          <a:p>
            <a:r>
              <a:rPr lang="zh-CN" altLang="zh-CN" sz="1400" dirty="0"/>
              <a:t>                PSK Key Exchange Mode: PSK with (EC)DHE key establishment (psk_dhe_ke) (1)</a:t>
            </a:r>
          </a:p>
          <a:p>
            <a:r>
              <a:rPr lang="zh-CN" altLang="zh-CN" sz="1400" dirty="0"/>
              <a:t>            Extension: server_name (len=24) name=cloudflare-quic.com</a:t>
            </a:r>
          </a:p>
          <a:p>
            <a:r>
              <a:rPr lang="zh-CN" altLang="zh-CN" sz="1400" dirty="0"/>
              <a:t>                Type: server_name (0)</a:t>
            </a:r>
          </a:p>
          <a:p>
            <a:r>
              <a:rPr lang="zh-CN" altLang="zh-CN" sz="1400" dirty="0"/>
              <a:t>                Length: 24</a:t>
            </a:r>
          </a:p>
          <a:p>
            <a:r>
              <a:rPr lang="zh-CN" altLang="zh-CN" sz="1400" dirty="0"/>
              <a:t>                Server Name Indication extension</a:t>
            </a:r>
          </a:p>
          <a:p>
            <a:r>
              <a:rPr lang="zh-CN" altLang="zh-CN" sz="1400" dirty="0"/>
              <a:t>            Extension: application_layer_protocol_negotiation (len=5)</a:t>
            </a:r>
          </a:p>
          <a:p>
            <a:r>
              <a:rPr lang="zh-CN" altLang="zh-CN" sz="1400" dirty="0"/>
              <a:t>                Type: application_layer_protocol_negotiation (16)</a:t>
            </a:r>
          </a:p>
          <a:p>
            <a:r>
              <a:rPr lang="zh-CN" altLang="zh-CN" sz="1400" dirty="0"/>
              <a:t>                Length: 5</a:t>
            </a:r>
          </a:p>
          <a:p>
            <a:r>
              <a:rPr lang="zh-CN" altLang="zh-CN" sz="1400" dirty="0"/>
              <a:t>                ALPN Extension Length: 3</a:t>
            </a:r>
          </a:p>
          <a:p>
            <a:r>
              <a:rPr lang="zh-CN" altLang="zh-CN" sz="1400" dirty="0"/>
              <a:t>                ALPN Protocol</a:t>
            </a:r>
          </a:p>
          <a:p>
            <a:r>
              <a:rPr lang="zh-CN" altLang="zh-CN" sz="1400" dirty="0"/>
              <a:t>                    ALPN string length: 2</a:t>
            </a:r>
          </a:p>
          <a:p>
            <a:r>
              <a:rPr lang="zh-CN" altLang="zh-CN" sz="1400" dirty="0"/>
              <a:t>                    ALPN Next Protocol: h3</a:t>
            </a:r>
          </a:p>
          <a:p>
            <a:r>
              <a:rPr lang="zh-CN" altLang="zh-CN" sz="1400" dirty="0"/>
              <a:t>            Extension: quic_transport_parameters (len=71)</a:t>
            </a:r>
          </a:p>
          <a:p>
            <a:r>
              <a:rPr lang="zh-CN" altLang="zh-CN" sz="1400" dirty="0"/>
              <a:t>                Type: quic_transport_parameters (57)</a:t>
            </a:r>
          </a:p>
          <a:p>
            <a:r>
              <a:rPr lang="zh-CN" altLang="zh-CN" sz="1400" dirty="0"/>
              <a:t>                Length: 71</a:t>
            </a:r>
          </a:p>
          <a:p>
            <a:r>
              <a:rPr lang="zh-CN" altLang="zh-CN" sz="1400" dirty="0"/>
              <a:t>                Parameter: max_idle_timeout (len=4) 60000 ms</a:t>
            </a:r>
          </a:p>
          <a:p>
            <a:r>
              <a:rPr lang="zh-CN" altLang="zh-CN" sz="1400" dirty="0"/>
              <a:t>                Parameter: initial_max_data (len=4) 1048576</a:t>
            </a:r>
          </a:p>
          <a:p>
            <a:r>
              <a:rPr lang="zh-CN" altLang="zh-CN" sz="1400" dirty="0"/>
              <a:t>                Parameter: initial_max_stream_data_bidi_local (len=4) 1048576</a:t>
            </a:r>
          </a:p>
          <a:p>
            <a:r>
              <a:rPr lang="zh-CN" altLang="zh-CN" sz="1400" dirty="0"/>
              <a:t>                Parameter: initial_max_stream_data_bidi_remote (len=4) 1048576</a:t>
            </a:r>
          </a:p>
          <a:p>
            <a:r>
              <a:rPr lang="zh-CN" altLang="zh-CN" sz="1400" dirty="0"/>
              <a:t>                Parameter: initial_max_stream_data_uni (len=4) 1048576</a:t>
            </a:r>
          </a:p>
          <a:p>
            <a:r>
              <a:rPr lang="zh-CN" altLang="zh-CN" sz="1400" dirty="0"/>
              <a:t>                Parameter: initial_max_streams_bidi (len=2) 128</a:t>
            </a:r>
          </a:p>
          <a:p>
            <a:r>
              <a:rPr lang="zh-CN" altLang="zh-CN" sz="1400" dirty="0"/>
              <a:t>                Parameter: initial_max_streams_uni (len=2) 128</a:t>
            </a:r>
          </a:p>
          <a:p>
            <a:r>
              <a:rPr lang="zh-CN" altLang="zh-CN" sz="1400" dirty="0"/>
              <a:t>                Parameter: ack_delay_exponent (len=1)</a:t>
            </a:r>
          </a:p>
          <a:p>
            <a:r>
              <a:rPr lang="zh-CN" altLang="zh-CN" sz="1400" dirty="0"/>
              <a:t>                Parameter: max_ack_delay (len=1) 25</a:t>
            </a:r>
          </a:p>
          <a:p>
            <a:r>
              <a:rPr lang="zh-CN" altLang="zh-CN" sz="1400" dirty="0"/>
              <a:t>                Parameter: active_connection_id_limit (len=1) 8</a:t>
            </a:r>
          </a:p>
          <a:p>
            <a:r>
              <a:rPr lang="zh-CN" altLang="zh-CN" sz="1400" dirty="0"/>
              <a:t>                Parameter: initial_source_connection_id (len=8)</a:t>
            </a:r>
          </a:p>
          <a:p>
            <a:r>
              <a:rPr lang="zh-CN" altLang="zh-CN" sz="1400" dirty="0"/>
              <a:t>                Parameter: version_information (len=12)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56D7BC-4CA1-A8F0-30F4-E2085B87EB87}"/>
              </a:ext>
            </a:extLst>
          </p:cNvPr>
          <p:cNvSpPr txBox="1"/>
          <p:nvPr/>
        </p:nvSpPr>
        <p:spPr>
          <a:xfrm>
            <a:off x="4231465" y="56062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9619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7A380A-0011-C6DA-758A-60DF6194E3EF}"/>
              </a:ext>
            </a:extLst>
          </p:cNvPr>
          <p:cNvSpPr txBox="1"/>
          <p:nvPr/>
        </p:nvSpPr>
        <p:spPr>
          <a:xfrm>
            <a:off x="0" y="18918"/>
            <a:ext cx="418755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Extension: early_data (len=0)</a:t>
            </a:r>
          </a:p>
          <a:p>
            <a:r>
              <a:rPr lang="zh-CN" altLang="zh-CN" dirty="0"/>
              <a:t>    Type: early_data (42)</a:t>
            </a:r>
          </a:p>
          <a:p>
            <a:r>
              <a:rPr lang="zh-CN" altLang="zh-CN" dirty="0"/>
              <a:t>    Length: 0</a:t>
            </a:r>
          </a:p>
          <a:p>
            <a:r>
              <a:rPr lang="zh-CN" altLang="zh-CN" dirty="0"/>
              <a:t>Extension: pre_shared_key (len=283)</a:t>
            </a:r>
          </a:p>
          <a:p>
            <a:r>
              <a:rPr lang="zh-CN" altLang="zh-CN" dirty="0"/>
              <a:t>    Type: pre_shared_key (41)</a:t>
            </a:r>
          </a:p>
          <a:p>
            <a:r>
              <a:rPr lang="zh-CN" altLang="zh-CN" dirty="0"/>
              <a:t>    Length: 283</a:t>
            </a:r>
          </a:p>
          <a:p>
            <a:r>
              <a:rPr lang="zh-CN" altLang="zh-CN" dirty="0"/>
              <a:t>    Pre-Shared Key extension</a:t>
            </a:r>
          </a:p>
          <a:p>
            <a:r>
              <a:rPr lang="zh-CN" altLang="zh-CN" dirty="0"/>
              <a:t>    Identities Length: 230</a:t>
            </a:r>
          </a:p>
          <a:p>
            <a:r>
              <a:rPr lang="zh-CN" altLang="zh-CN" dirty="0"/>
              <a:t>    PSK Identity (length: 224)</a:t>
            </a:r>
          </a:p>
          <a:p>
            <a:r>
              <a:rPr lang="zh-CN" altLang="zh-CN" dirty="0"/>
              <a:t>           </a:t>
            </a:r>
            <a:r>
              <a:rPr lang="en-US" altLang="zh-CN" dirty="0"/>
              <a:t> </a:t>
            </a:r>
            <a:r>
              <a:rPr lang="zh-CN" altLang="zh-CN" dirty="0"/>
              <a:t>Identity Length: 224</a:t>
            </a:r>
          </a:p>
          <a:p>
            <a:r>
              <a:rPr lang="zh-CN" altLang="zh-CN" dirty="0"/>
              <a:t>            Identity […]: </a:t>
            </a:r>
            <a:r>
              <a:rPr lang="en-US" altLang="zh-CN" dirty="0"/>
              <a:t>…</a:t>
            </a:r>
            <a:endParaRPr lang="zh-CN" altLang="zh-CN" dirty="0"/>
          </a:p>
          <a:p>
            <a:r>
              <a:rPr lang="zh-CN" altLang="zh-CN" dirty="0"/>
              <a:t>            Obfuscated Ticket Age: 2239458613</a:t>
            </a:r>
          </a:p>
          <a:p>
            <a:r>
              <a:rPr lang="zh-CN" altLang="zh-CN" dirty="0"/>
              <a:t>    PSK Binders length: 49</a:t>
            </a:r>
          </a:p>
          <a:p>
            <a:r>
              <a:rPr lang="zh-CN" altLang="zh-CN" dirty="0"/>
              <a:t>    PSK Binders</a:t>
            </a:r>
          </a:p>
          <a:p>
            <a:r>
              <a:rPr lang="zh-CN" altLang="zh-CN" dirty="0"/>
              <a:t>            PSK Binder (length: 48)</a:t>
            </a:r>
          </a:p>
          <a:p>
            <a:r>
              <a:rPr lang="zh-CN" altLang="zh-CN" dirty="0"/>
              <a:t>            </a:t>
            </a:r>
            <a:r>
              <a:rPr lang="en-US" altLang="zh-CN" dirty="0"/>
              <a:t>	</a:t>
            </a:r>
            <a:r>
              <a:rPr lang="zh-CN" altLang="zh-CN" dirty="0"/>
              <a:t>Binder Length: 48</a:t>
            </a:r>
          </a:p>
          <a:p>
            <a:r>
              <a:rPr lang="zh-CN" altLang="zh-CN" dirty="0"/>
              <a:t>            </a:t>
            </a:r>
            <a:r>
              <a:rPr lang="en-US" altLang="zh-CN" dirty="0"/>
              <a:t>	</a:t>
            </a:r>
            <a:r>
              <a:rPr lang="zh-CN" altLang="zh-CN" dirty="0"/>
              <a:t>Binder: </a:t>
            </a:r>
            <a:r>
              <a:rPr lang="en-US" altLang="zh-CN" dirty="0"/>
              <a:t>…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C39C5C-E9ED-8BAB-F2BF-819A7B32975F}"/>
              </a:ext>
            </a:extLst>
          </p:cNvPr>
          <p:cNvSpPr txBox="1"/>
          <p:nvPr/>
        </p:nvSpPr>
        <p:spPr>
          <a:xfrm>
            <a:off x="3569313" y="-25225"/>
            <a:ext cx="49125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>
                <a:solidFill>
                  <a:srgbClr val="0070C0"/>
                </a:solidFill>
              </a:rPr>
              <a:t>出现 </a:t>
            </a:r>
            <a:r>
              <a:rPr lang="zh-CN" altLang="zh-CN" dirty="0">
                <a:solidFill>
                  <a:srgbClr val="0070C0"/>
                </a:solidFill>
              </a:rPr>
              <a:t>early_data</a:t>
            </a:r>
            <a:r>
              <a:rPr lang="zh-CN" altLang="zh-CN" sz="1600" dirty="0">
                <a:solidFill>
                  <a:srgbClr val="0070C0"/>
                </a:solidFill>
              </a:rPr>
              <a:t> 扩展，说明客户端声明了 0-RTT 早期数据能力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062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72B062-F677-CB12-384F-15B0DC0A4E93}"/>
              </a:ext>
            </a:extLst>
          </p:cNvPr>
          <p:cNvSpPr txBox="1"/>
          <p:nvPr/>
        </p:nvSpPr>
        <p:spPr>
          <a:xfrm>
            <a:off x="0" y="0"/>
            <a:ext cx="7042312" cy="6832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solidFill>
                  <a:srgbClr val="FF0000"/>
                </a:solidFill>
              </a:rPr>
              <a:t>Server Initial</a:t>
            </a:r>
          </a:p>
          <a:p>
            <a:r>
              <a:rPr lang="zh-CN" altLang="zh-CN" sz="1400" dirty="0"/>
              <a:t>CRYPTO</a:t>
            </a:r>
          </a:p>
          <a:p>
            <a:r>
              <a:rPr lang="zh-CN" altLang="zh-CN" sz="1400" dirty="0"/>
              <a:t>    Frame Type: CRYPTO (0x0000000000000006)</a:t>
            </a:r>
          </a:p>
          <a:p>
            <a:r>
              <a:rPr lang="zh-CN" altLang="zh-CN" sz="1400" dirty="0"/>
              <a:t>    Offset: 0</a:t>
            </a:r>
          </a:p>
          <a:p>
            <a:r>
              <a:rPr lang="zh-CN" altLang="zh-CN" sz="1400" dirty="0"/>
              <a:t>    Length: 96</a:t>
            </a:r>
          </a:p>
          <a:p>
            <a:r>
              <a:rPr lang="zh-CN" altLang="zh-CN" sz="1400" dirty="0"/>
              <a:t>    Crypto Data</a:t>
            </a:r>
          </a:p>
          <a:p>
            <a:r>
              <a:rPr lang="zh-CN" altLang="zh-CN" sz="1400" dirty="0"/>
              <a:t>    TLSv1.3 Record Layer: Handshake Protocol: Server Hello</a:t>
            </a:r>
          </a:p>
          <a:p>
            <a:r>
              <a:rPr lang="zh-CN" altLang="zh-CN" sz="1400" dirty="0"/>
              <a:t>        Handshake Protocol: Server Hello</a:t>
            </a:r>
          </a:p>
          <a:p>
            <a:r>
              <a:rPr lang="zh-CN" altLang="zh-CN" sz="1400" dirty="0"/>
              <a:t>            Handshake Type: Server Hello (2)</a:t>
            </a:r>
          </a:p>
          <a:p>
            <a:r>
              <a:rPr lang="zh-CN" altLang="zh-CN" sz="1400" dirty="0"/>
              <a:t>            Length: 92</a:t>
            </a:r>
          </a:p>
          <a:p>
            <a:r>
              <a:rPr lang="zh-CN" altLang="zh-CN" sz="1400" dirty="0"/>
              <a:t>            Version: TLS 1.2 (0x0303)</a:t>
            </a:r>
          </a:p>
          <a:p>
            <a:r>
              <a:rPr lang="zh-CN" altLang="zh-CN" sz="1400" dirty="0"/>
              <a:t>            Random: fbe971f241990c584b5d33e28a5be694d39c62e3b7f6e9b5d0a50cc9a75e47b5</a:t>
            </a:r>
          </a:p>
          <a:p>
            <a:r>
              <a:rPr lang="zh-CN" altLang="zh-CN" sz="1400" dirty="0"/>
              <a:t>            Session ID Length: 0</a:t>
            </a:r>
          </a:p>
          <a:p>
            <a:r>
              <a:rPr lang="zh-CN" altLang="zh-CN" sz="1400" dirty="0"/>
              <a:t>            Cipher Suite: TLS_AES_256_GCM_SHA384 (0x1302)</a:t>
            </a:r>
          </a:p>
          <a:p>
            <a:r>
              <a:rPr lang="zh-CN" altLang="zh-CN" sz="1400" dirty="0"/>
              <a:t>            Compression Method: null (0)</a:t>
            </a:r>
          </a:p>
          <a:p>
            <a:r>
              <a:rPr lang="zh-CN" altLang="zh-CN" sz="1400" dirty="0"/>
              <a:t>            Extensions Length: 52</a:t>
            </a:r>
          </a:p>
          <a:p>
            <a:r>
              <a:rPr lang="zh-CN" altLang="zh-CN" sz="1400" dirty="0"/>
              <a:t>            Extension: pre_shared_key (len=2)</a:t>
            </a:r>
          </a:p>
          <a:p>
            <a:r>
              <a:rPr lang="zh-CN" altLang="zh-CN" sz="1400" dirty="0"/>
              <a:t>                Type: pre_shared_key (41)</a:t>
            </a:r>
          </a:p>
          <a:p>
            <a:r>
              <a:rPr lang="zh-CN" altLang="zh-CN" sz="1400" dirty="0"/>
              <a:t>                Length: 2</a:t>
            </a:r>
          </a:p>
          <a:p>
            <a:r>
              <a:rPr lang="zh-CN" altLang="zh-CN" sz="1400" dirty="0"/>
              <a:t>                Pre-Shared Key extension</a:t>
            </a:r>
          </a:p>
          <a:p>
            <a:r>
              <a:rPr lang="zh-CN" altLang="zh-CN" sz="1400" dirty="0"/>
              <a:t>                    Selected Identity: 0</a:t>
            </a:r>
          </a:p>
          <a:p>
            <a:r>
              <a:rPr lang="zh-CN" altLang="zh-CN" sz="1400" dirty="0"/>
              <a:t>            Extension: key_share (len=36) x25519</a:t>
            </a:r>
          </a:p>
          <a:p>
            <a:r>
              <a:rPr lang="zh-CN" altLang="zh-CN" sz="1400" dirty="0"/>
              <a:t>                Type: key_share (51)</a:t>
            </a:r>
          </a:p>
          <a:p>
            <a:r>
              <a:rPr lang="zh-CN" altLang="zh-CN" sz="1400" dirty="0"/>
              <a:t>                Length: 36</a:t>
            </a:r>
          </a:p>
          <a:p>
            <a:r>
              <a:rPr lang="zh-CN" altLang="zh-CN" sz="1400" dirty="0"/>
              <a:t>                Key Share extension</a:t>
            </a:r>
          </a:p>
          <a:p>
            <a:r>
              <a:rPr lang="zh-CN" altLang="zh-CN" sz="1400" dirty="0"/>
              <a:t>                    Key Share Entry: Group: x25519, Key Exchange length: 32</a:t>
            </a:r>
          </a:p>
          <a:p>
            <a:r>
              <a:rPr lang="zh-CN" altLang="zh-CN" sz="1400" dirty="0"/>
              <a:t>            Extension: supported_versions (len=2) TLS 1.3</a:t>
            </a:r>
          </a:p>
          <a:p>
            <a:r>
              <a:rPr lang="zh-CN" altLang="zh-CN" sz="1400" dirty="0"/>
              <a:t>                Type: supported_versions (43)</a:t>
            </a:r>
          </a:p>
          <a:p>
            <a:r>
              <a:rPr lang="zh-CN" altLang="zh-CN" sz="1400" dirty="0"/>
              <a:t>                Length: 2</a:t>
            </a:r>
          </a:p>
          <a:p>
            <a:r>
              <a:rPr lang="zh-CN" altLang="zh-CN" sz="1400" dirty="0"/>
              <a:t>                Supported Version: TLS 1.3 (0x0304)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6762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1551" y="550866"/>
            <a:ext cx="78494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zh-CN" sz="2000" b="1" dirty="0">
                <a:solidFill>
                  <a:srgbClr val="1B4F72"/>
                </a:solidFill>
              </a:rPr>
              <a:t>恢复判据从 Session ID / Ticket 演进到 PSK，QUIC 还可携带 early_data</a:t>
            </a:r>
            <a:endParaRPr sz="2000" b="1" dirty="0">
              <a:solidFill>
                <a:srgbClr val="1B4F7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13816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571353"/>
              </p:ext>
            </p:extLst>
          </p:nvPr>
        </p:nvGraphicFramePr>
        <p:xfrm>
          <a:off x="502920" y="1371600"/>
          <a:ext cx="81381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对比项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TLS 1.2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TLS 1.3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QUIC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恢复判据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Session ID + session_ticket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pre_shared_key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rPr dirty="0" err="1"/>
                        <a:t>pre_shared_key</a:t>
                      </a:r>
                      <a:r>
                        <a:rPr lang="zh-CN" altLang="en-US" dirty="0"/>
                        <a:t>（可伴随</a:t>
                      </a:r>
                      <a:r>
                        <a:rPr lang="en-US" altLang="zh-CN" dirty="0" err="1"/>
                        <a:t>early_data</a:t>
                      </a:r>
                      <a:r>
                        <a:rPr lang="zh-CN" altLang="en-US" dirty="0"/>
                        <a:t>）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关键协商字段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Cipher Suite, ECDHE,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supported_versions, key_share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ALPN, key_share, quic_transport_parameters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报文可见性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完整握手大多明文可见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Server Hello 后大量加密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TLS 1.3 握手封装在 CRYPTO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效率特点</a:t>
                      </a:r>
                    </a:p>
                  </a:txBody>
                  <a:tcPr>
                    <a:solidFill>
                      <a:srgbClr val="E8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恢复能减少证书与密钥交换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1-RTT 更紧凑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rPr dirty="0" err="1"/>
                        <a:t>低时延最明显，可支持</a:t>
                      </a:r>
                      <a:r>
                        <a:rPr dirty="0"/>
                        <a:t> 0-RTT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160520"/>
            <a:ext cx="74523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4251960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1B4F72"/>
                </a:solidFill>
              </a:rPr>
              <a:t>结论</a:t>
            </a:r>
            <a:endParaRPr sz="1400" b="1" dirty="0">
              <a:solidFill>
                <a:srgbClr val="1B4F7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4572000"/>
            <a:ext cx="715975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C3E50"/>
                </a:solidFill>
              </a:defRPr>
            </a:pPr>
            <a:r>
              <a:rPr lang="zh-CN" altLang="zh-CN" sz="1150" dirty="0"/>
              <a:t>TLS 1.2 看 Session ID / Session Ticket 和握手是否缩短，TLS 1.3 看 pre_shared_key，QUIC 在此基础上再关注 ALPN、Transport Parameters，以及是否出现 early_data</a:t>
            </a:r>
            <a:r>
              <a:rPr dirty="0"/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第 5 部分：字段级总结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6703</Words>
  <Application>Microsoft Office PowerPoint</Application>
  <PresentationFormat>全屏显示(4:3)</PresentationFormat>
  <Paragraphs>687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等线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兴 丁</cp:lastModifiedBy>
  <cp:revision>9</cp:revision>
  <dcterms:created xsi:type="dcterms:W3CDTF">2013-01-27T09:14:16Z</dcterms:created>
  <dcterms:modified xsi:type="dcterms:W3CDTF">2026-07-06T08:46:45Z</dcterms:modified>
  <cp:category/>
</cp:coreProperties>
</file>